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Target vs Actual MAC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目标 MAC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 MAC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64.96</c:v>
                </c:pt>
                <c:pt idx="1">
                  <c:v>80.01</c:v>
                </c:pt>
                <c:pt idx="2">
                  <c:v>90.07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5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预算对齐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目标 MAC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 MAC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64.96</c:v>
                </c:pt>
                <c:pt idx="1">
                  <c:v>80.01</c:v>
                </c:pt>
                <c:pt idx="2">
                  <c:v>90.07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Compact OA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85.53</c:v>
                </c:pt>
                <c:pt idx="1">
                  <c:v>85.84</c:v>
                </c:pt>
                <c:pt idx="2">
                  <c:v>85.74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5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缺失模态状态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无 dropout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Full</c:v>
                </c:pt>
                <c:pt idx="1">
                  <c:v>HSI only</c:v>
                </c:pt>
                <c:pt idx="2">
                  <c:v>LiDAR only</c:v>
                </c:pt>
                <c:pt idx="3">
                  <c:v>LiDAR noise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86.74</c:v>
                </c:pt>
                <c:pt idx="1">
                  <c:v>63.34</c:v>
                </c:pt>
                <c:pt idx="2">
                  <c:v>32.27</c:v>
                </c:pt>
                <c:pt idx="3">
                  <c:v>86.13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dropout 0.25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Full</c:v>
                </c:pt>
                <c:pt idx="1">
                  <c:v>HSI only</c:v>
                </c:pt>
                <c:pt idx="2">
                  <c:v>LiDAR only</c:v>
                </c:pt>
                <c:pt idx="3">
                  <c:v>LiDAR noise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87.01</c:v>
                </c:pt>
                <c:pt idx="1">
                  <c:v>75.84</c:v>
                </c:pt>
                <c:pt idx="2">
                  <c:v>42.95</c:v>
                </c:pt>
                <c:pt idx="3">
                  <c:v>84.09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5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Clean vs degraded states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Adverse Avg.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Uniform</c:v>
                </c:pt>
                <c:pt idx="2">
                  <c:v>Noise</c:v>
                </c:pt>
                <c:pt idx="3">
                  <c:v>Multi .50</c:v>
                </c:pt>
                <c:pt idx="4">
                  <c:v>Multi .25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74.89</c:v>
                </c:pt>
                <c:pt idx="1">
                  <c:v>76.41</c:v>
                </c:pt>
                <c:pt idx="2">
                  <c:v>79.54</c:v>
                </c:pt>
                <c:pt idx="3">
                  <c:v>84.72</c:v>
                </c:pt>
                <c:pt idx="4">
                  <c:v>84.76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OA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Uniform</c:v>
                </c:pt>
                <c:pt idx="2">
                  <c:v>Noise</c:v>
                </c:pt>
                <c:pt idx="3">
                  <c:v>Multi .50</c:v>
                </c:pt>
                <c:pt idx="4">
                  <c:v>Multi .25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86.97</c:v>
                </c:pt>
                <c:pt idx="1">
                  <c:v>86.72</c:v>
                </c:pt>
                <c:pt idx="2">
                  <c:v>87.45</c:v>
                </c:pt>
                <c:pt idx="3">
                  <c:v>85.99</c:v>
                </c:pt>
                <c:pt idx="4">
                  <c:v>86.9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5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325880"/>
            <a:ext cx="987552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400" b="1">
                <a:solidFill>
                  <a:srgbClr val="1CA6B7"/>
                </a:solidFill>
                <a:latin typeface="Microsoft YaHei"/>
              </a:rPr>
              <a:t>面向缺失与退化模态的融合兼容 compact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38528"/>
            <a:ext cx="99669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EBF2F7"/>
                </a:solidFill>
                <a:latin typeface="Microsoft YaHei"/>
              </a:rPr>
              <a:t>Fusion-Compatible Compact Export with Degradation-Supervised Reliability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246120"/>
            <a:ext cx="2971800" cy="114300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246120"/>
            <a:ext cx="82296" cy="114300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3410712"/>
            <a:ext cx="26426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核心问题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867911"/>
            <a:ext cx="2642616" cy="4297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EBF2F7"/>
                </a:solidFill>
                <a:latin typeface="Microsoft YaHei"/>
              </a:rPr>
              <a:t>模型能否真实变小，并稳定处理缺失/退化模态？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3246120"/>
            <a:ext cx="2971800" cy="114300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3246120"/>
            <a:ext cx="82296" cy="11430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3410712"/>
            <a:ext cx="26426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核心证据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3867911"/>
            <a:ext cx="2642616" cy="4297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EBF2F7"/>
                </a:solidFill>
                <a:latin typeface="Microsoft YaHei"/>
              </a:rPr>
              <a:t>MAC 对齐、真实导出、鲁棒性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246120"/>
            <a:ext cx="2971800" cy="114300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3246120"/>
            <a:ext cx="82296" cy="114300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3410712"/>
            <a:ext cx="26426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汇报定位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3867911"/>
            <a:ext cx="2642616" cy="4297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EBF2F7"/>
                </a:solidFill>
                <a:latin typeface="Microsoft YaHei"/>
              </a:rPr>
              <a:t>18 页主汇报
4 页备份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15000"/>
            <a:ext cx="54864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EBF2F7"/>
                </a:solidFill>
                <a:latin typeface="Microsoft YaHei"/>
              </a:rPr>
              <a:t>毕业预答辩 / 学术组会 / 投稿汇报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01 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研究动机：多模态更强，也更难部署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058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000" b="1">
                <a:solidFill>
                  <a:srgbClr val="1D5C91"/>
                </a:solidFill>
                <a:latin typeface="Microsoft YaHei"/>
              </a:rPr>
              <a:t>HSI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19456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0">
                <a:solidFill>
                  <a:srgbClr val="121922"/>
                </a:solidFill>
                <a:latin typeface="Microsoft YaHei"/>
              </a:rPr>
              <a:t>光谱细节丰富
但维度高、计算重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011680"/>
            <a:ext cx="36576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400" b="1">
                <a:solidFill>
                  <a:srgbClr val="E77E34"/>
                </a:solidFill>
                <a:latin typeface="Microsoft YaHei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536192"/>
            <a:ext cx="2468880" cy="4023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800" b="1">
                <a:solidFill>
                  <a:srgbClr val="379774"/>
                </a:solidFill>
                <a:latin typeface="Microsoft YaHei"/>
              </a:rPr>
              <a:t>LiDAR / Aux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12848"/>
            <a:ext cx="2331720" cy="7498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0">
                <a:solidFill>
                  <a:srgbClr val="121922"/>
                </a:solidFill>
                <a:latin typeface="Microsoft YaHei"/>
              </a:rPr>
              <a:t>几何/高度信息
提升类别区分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993392"/>
            <a:ext cx="82296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3400" b="1">
                <a:solidFill>
                  <a:srgbClr val="1CA6B7"/>
                </a:solidFill>
                <a:latin typeface="Microsoft YaHe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600200"/>
            <a:ext cx="219456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000" b="1">
                <a:solidFill>
                  <a:srgbClr val="12233E"/>
                </a:solidFill>
                <a:latin typeface="Microsoft YaHei"/>
              </a:rPr>
              <a:t>多分支融合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148840"/>
            <a:ext cx="274320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0">
                <a:solidFill>
                  <a:srgbClr val="121922"/>
                </a:solidFill>
                <a:latin typeface="Microsoft YaHei"/>
              </a:rPr>
              <a:t>精度提升
计算和故障模式增加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30752"/>
            <a:ext cx="96926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2233E"/>
                </a:solidFill>
                <a:latin typeface="Microsoft YaHei"/>
              </a:rPr>
              <a:t>部署导向评价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不仅看 full-modality OA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还报告真实 MAC、参数、缺失和退化状态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730752"/>
            <a:ext cx="82296" cy="1170432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多模态遥感分类需要从“精度优先”转向“精度-效率-鲁棒性联合评价”。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02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问题：预算、缺失与退化形成三重约束</a:t>
            </a:r>
          </a:p>
        </p:txBody>
      </p:sp>
      <p:sp>
        <p:nvSpPr>
          <p:cNvPr id="5" name="Oval 4"/>
          <p:cNvSpPr/>
          <p:nvPr/>
        </p:nvSpPr>
        <p:spPr>
          <a:xfrm>
            <a:off x="4800600" y="1143000"/>
            <a:ext cx="1828800" cy="1051560"/>
          </a:xfrm>
          <a:prstGeom prst="ellipse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56632" y="1453896"/>
            <a:ext cx="13716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资源预算</a:t>
            </a:r>
          </a:p>
        </p:txBody>
      </p:sp>
      <p:sp>
        <p:nvSpPr>
          <p:cNvPr id="7" name="Oval 6"/>
          <p:cNvSpPr/>
          <p:nvPr/>
        </p:nvSpPr>
        <p:spPr>
          <a:xfrm>
            <a:off x="2148840" y="3794760"/>
            <a:ext cx="1828800" cy="1051560"/>
          </a:xfrm>
          <a:prstGeom prst="ellipse">
            <a:avLst/>
          </a:prstGeom>
          <a:solidFill>
            <a:srgbClr val="BE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04872" y="4105656"/>
            <a:ext cx="13716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模态缺失</a:t>
            </a:r>
          </a:p>
        </p:txBody>
      </p:sp>
      <p:sp>
        <p:nvSpPr>
          <p:cNvPr id="9" name="Oval 8"/>
          <p:cNvSpPr/>
          <p:nvPr/>
        </p:nvSpPr>
        <p:spPr>
          <a:xfrm>
            <a:off x="7452360" y="3794760"/>
            <a:ext cx="1828800" cy="1051560"/>
          </a:xfrm>
          <a:prstGeom prst="ellipse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08392" y="4105656"/>
            <a:ext cx="13716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模态退化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063240" y="2194560"/>
            <a:ext cx="2651760" cy="1600200"/>
          </a:xfrm>
          <a:prstGeom prst="line">
            <a:avLst/>
          </a:prstGeom>
          <a:ln w="25400">
            <a:solidFill>
              <a:srgbClr val="122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15000" y="2194560"/>
            <a:ext cx="2651760" cy="1600200"/>
          </a:xfrm>
          <a:prstGeom prst="line">
            <a:avLst/>
          </a:prstGeom>
          <a:ln w="25400">
            <a:solidFill>
              <a:srgbClr val="122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77639" y="4315968"/>
            <a:ext cx="3474721" cy="0"/>
          </a:xfrm>
          <a:prstGeom prst="line">
            <a:avLst/>
          </a:prstGeom>
          <a:ln w="25400">
            <a:solidFill>
              <a:srgbClr val="122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1325880"/>
            <a:ext cx="2926080" cy="17373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21922"/>
                </a:solidFill>
                <a:latin typeface="Microsoft YaHei"/>
              </a:defRPr>
            </a:pPr>
            <a:r>
              <a:t>导出模型必须真实满足目标资源比例。</a:t>
            </a:r>
          </a:p>
          <a:p>
            <a:pPr>
              <a:spcAft>
                <a:spcPts val="1000"/>
              </a:spcAft>
              <a:defRPr sz="1900">
                <a:solidFill>
                  <a:srgbClr val="121922"/>
                </a:solidFill>
                <a:latin typeface="Microsoft YaHei"/>
              </a:defRPr>
            </a:pPr>
            <a:r>
              <a:t>缺失模态需要被排除出融合竞争。</a:t>
            </a:r>
          </a:p>
          <a:p>
            <a:pPr>
              <a:spcAft>
                <a:spcPts val="1000"/>
              </a:spcAft>
              <a:defRPr sz="1900">
                <a:solidFill>
                  <a:srgbClr val="121922"/>
                </a:solidFill>
                <a:latin typeface="Microsoft YaHei"/>
              </a:defRPr>
            </a:pPr>
            <a:r>
              <a:t>退化但可用的模态不能简单按缺失处理。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417320"/>
            <a:ext cx="3474720" cy="82296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21922"/>
                </a:solidFill>
                <a:latin typeface="Microsoft YaHei"/>
              </a:defRPr>
            </a:pPr>
            <a:r>
              <a:t>目标：一个可导出、可解释、可多状态评估的紧凑多模态分类器。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BRM-Net 处理的是三个约束的耦合问题，而不是单独做剪枝或缺失模态补全。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03 缺口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现有方法缺口：四类工作各解决一部分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10332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方法类别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资源预算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真实导出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缺失/退化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融合兼容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结构剪枝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弹性网络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部分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多模态融合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缺失模态学习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部分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弱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BRM-Net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本文的空缺定位是：融合接口可保持的真实 compact export + 退化监督可靠融合。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04 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三项核心贡献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6400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4200" b="1">
                <a:solidFill>
                  <a:srgbClr val="1CA6B7"/>
                </a:solidFill>
                <a:latin typeface="Microsoft YaHe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115568"/>
            <a:ext cx="8595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2233E"/>
                </a:solidFill>
                <a:latin typeface="Microsoft YaHei"/>
              </a:rPr>
              <a:t>融合兼容预算化紧凑导出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学习通道门控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保持融合接口后导出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115568"/>
            <a:ext cx="82296" cy="114300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6400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4200" b="1">
                <a:solidFill>
                  <a:srgbClr val="E77E34"/>
                </a:solidFill>
                <a:latin typeface="Microsoft YaHe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496312"/>
            <a:ext cx="8595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2233E"/>
                </a:solidFill>
                <a:latin typeface="Microsoft YaHei"/>
              </a:rPr>
              <a:t>退化监督可靠性融合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监督 corrupted-but-available 输入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不依赖重建网络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496312"/>
            <a:ext cx="82296" cy="11430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69080"/>
            <a:ext cx="6400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4200" b="1">
                <a:solidFill>
                  <a:srgbClr val="379774"/>
                </a:solidFill>
                <a:latin typeface="Microsoft YaHe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877056"/>
            <a:ext cx="8595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2233E"/>
                </a:solidFill>
                <a:latin typeface="Microsoft YaHei"/>
              </a:rPr>
              <a:t>精度-效率-鲁棒性联合评估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报告 actual MAC 与参数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覆盖缺失、退化和多数据集证据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877056"/>
            <a:ext cx="82296" cy="114300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投稿主线收束为三点：真实导出、退化可靠融合、联合评估。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05 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BRM-Net 总体框架：双分支、三阶段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78992"/>
            <a:ext cx="182880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300" b="1">
                <a:solidFill>
                  <a:srgbClr val="1CA6B7"/>
                </a:solidFill>
                <a:latin typeface="Microsoft YaHei"/>
              </a:rPr>
              <a:t>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078992"/>
            <a:ext cx="210312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300" b="1">
                <a:solidFill>
                  <a:srgbClr val="E77E34"/>
                </a:solidFill>
                <a:latin typeface="Microsoft YaHei"/>
              </a:rPr>
              <a:t>Compact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1078992"/>
            <a:ext cx="164592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300" b="1">
                <a:solidFill>
                  <a:srgbClr val="379774"/>
                </a:solidFill>
                <a:latin typeface="Microsoft YaHei"/>
              </a:rPr>
              <a:t>Inference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1143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73152" bIns="73152"/>
          <a:lstStyle/>
          <a:p>
            <a:pPr algn="ctr"/>
            <a:r>
              <a:rPr sz="2000" b="1">
                <a:solidFill>
                  <a:srgbClr val="12233E"/>
                </a:solidFill>
                <a:latin typeface="Microsoft YaHei"/>
              </a:rPr>
              <a:t>HSI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1640"/>
            <a:ext cx="73152" cy="658368"/>
          </a:xfrm>
          <a:prstGeom prst="rect">
            <a:avLst/>
          </a:prstGeom>
          <a:solidFill>
            <a:srgbClr val="1D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40280" y="1691640"/>
            <a:ext cx="13258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73152" bIns="73152"/>
          <a:lstStyle/>
          <a:p>
            <a:pPr algn="ctr"/>
            <a:r>
              <a:rPr sz="1900" b="1">
                <a:solidFill>
                  <a:srgbClr val="12233E"/>
                </a:solidFill>
                <a:latin typeface="Microsoft YaHei"/>
              </a:rPr>
              <a:t>Encoder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691640"/>
            <a:ext cx="73152" cy="658368"/>
          </a:xfrm>
          <a:prstGeom prst="rect">
            <a:avLst/>
          </a:prstGeom>
          <a:solidFill>
            <a:srgbClr val="1D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86200" y="1691640"/>
            <a:ext cx="1097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73152" bIns="73152"/>
          <a:lstStyle/>
          <a:p>
            <a:pPr algn="ctr"/>
            <a:r>
              <a:rPr sz="2000" b="1">
                <a:solidFill>
                  <a:srgbClr val="12233E"/>
                </a:solidFill>
                <a:latin typeface="Microsoft YaHei"/>
              </a:rPr>
              <a:t>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1691640"/>
            <a:ext cx="73152" cy="658368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920240" y="2020824"/>
            <a:ext cx="320040" cy="0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566160" y="2020824"/>
            <a:ext cx="320040" cy="0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2880360"/>
            <a:ext cx="11430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73152" bIns="73152"/>
          <a:lstStyle/>
          <a:p>
            <a:pPr algn="ctr"/>
            <a:r>
              <a:rPr sz="2000" b="1">
                <a:solidFill>
                  <a:srgbClr val="12233E"/>
                </a:solidFill>
                <a:latin typeface="Microsoft YaHei"/>
              </a:rPr>
              <a:t>Aux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880360"/>
            <a:ext cx="73152" cy="658368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40280" y="2880360"/>
            <a:ext cx="13258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73152" bIns="73152"/>
          <a:lstStyle/>
          <a:p>
            <a:pPr algn="ctr"/>
            <a:r>
              <a:rPr sz="1900" b="1">
                <a:solidFill>
                  <a:srgbClr val="12233E"/>
                </a:solidFill>
                <a:latin typeface="Microsoft YaHei"/>
              </a:rPr>
              <a:t>Encoder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2880360"/>
            <a:ext cx="73152" cy="658368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86200" y="2880360"/>
            <a:ext cx="1097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73152" bIns="73152"/>
          <a:lstStyle/>
          <a:p>
            <a:pPr algn="ctr"/>
            <a:r>
              <a:rPr sz="2000" b="1">
                <a:solidFill>
                  <a:srgbClr val="12233E"/>
                </a:solidFill>
                <a:latin typeface="Microsoft YaHei"/>
              </a:rPr>
              <a:t>Gate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2880360"/>
            <a:ext cx="73152" cy="658368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920240" y="3209544"/>
            <a:ext cx="320040" cy="0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566160" y="3209544"/>
            <a:ext cx="320040" cy="0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366760" y="1691640"/>
            <a:ext cx="1417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73152" bIns="73152"/>
          <a:lstStyle/>
          <a:p>
            <a:pPr algn="ctr"/>
            <a:r>
              <a:rPr sz="1900" b="1">
                <a:solidFill>
                  <a:srgbClr val="12233E"/>
                </a:solidFill>
                <a:latin typeface="Microsoft YaHei"/>
              </a:rPr>
              <a:t>Q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1691640"/>
            <a:ext cx="73152" cy="658368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66760" y="2880360"/>
            <a:ext cx="1417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73152" bIns="73152"/>
          <a:lstStyle/>
          <a:p>
            <a:pPr algn="ctr"/>
            <a:r>
              <a:rPr sz="1900" b="1">
                <a:solidFill>
                  <a:srgbClr val="12233E"/>
                </a:solidFill>
                <a:latin typeface="Microsoft YaHei"/>
              </a:rPr>
              <a:t>Q 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2880360"/>
            <a:ext cx="73152" cy="658368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58400" y="2286000"/>
            <a:ext cx="1325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73152" bIns="73152"/>
          <a:lstStyle/>
          <a:p>
            <a:pPr algn="ctr"/>
            <a:r>
              <a:rPr sz="2000" b="1">
                <a:solidFill>
                  <a:srgbClr val="12233E"/>
                </a:solidFill>
                <a:latin typeface="Microsoft YaHei"/>
              </a:rPr>
              <a:t>Fusion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2286000"/>
            <a:ext cx="73152" cy="713232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58400" y="3429000"/>
            <a:ext cx="13258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73152" bIns="73152"/>
          <a:lstStyle/>
          <a:p>
            <a:pPr algn="ctr"/>
            <a:r>
              <a:rPr sz="2000" b="1">
                <a:solidFill>
                  <a:srgbClr val="12233E"/>
                </a:solidFill>
                <a:latin typeface="Microsoft YaHei"/>
              </a:rPr>
              <a:t>Head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0" y="3429000"/>
            <a:ext cx="73152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4983480" y="2020824"/>
            <a:ext cx="3383280" cy="0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983480" y="3209544"/>
            <a:ext cx="3383280" cy="0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784080" y="2020824"/>
            <a:ext cx="274320" cy="466344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784080" y="2798064"/>
            <a:ext cx="274320" cy="411480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716768" y="2999232"/>
            <a:ext cx="0" cy="429768"/>
          </a:xfrm>
          <a:prstGeom prst="line">
            <a:avLst/>
          </a:prstGeom>
          <a:ln w="25400">
            <a:solidFill>
              <a:srgbClr val="1CA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4400" y="4187952"/>
            <a:ext cx="237744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900" b="1">
                <a:solidFill>
                  <a:srgbClr val="E77E34"/>
                </a:solidFill>
                <a:latin typeface="Microsoft YaHei"/>
              </a:rPr>
              <a:t>导出路径（训练后执行）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46120" y="4462272"/>
            <a:ext cx="1691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73152" bIns="73152"/>
          <a:lstStyle/>
          <a:p>
            <a:pPr algn="ctr"/>
            <a:r>
              <a:rPr sz="1800" b="1">
                <a:solidFill>
                  <a:srgbClr val="12233E"/>
                </a:solidFill>
                <a:latin typeface="Microsoft YaHei"/>
              </a:rPr>
              <a:t>Gate prob.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4462272"/>
            <a:ext cx="73152" cy="621792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40680" y="4462272"/>
            <a:ext cx="1691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73152" bIns="73152"/>
          <a:lstStyle/>
          <a:p>
            <a:pPr algn="ctr"/>
            <a:r>
              <a:rPr sz="1800" b="1">
                <a:solidFill>
                  <a:srgbClr val="12233E"/>
                </a:solidFill>
                <a:latin typeface="Microsoft YaHei"/>
              </a:rPr>
              <a:t>阈值 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40680" y="4462272"/>
            <a:ext cx="73152" cy="621792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635240" y="4462272"/>
            <a:ext cx="1874519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73152" bIns="73152"/>
          <a:lstStyle/>
          <a:p>
            <a:pPr algn="ctr"/>
            <a:r>
              <a:rPr sz="1800" b="1">
                <a:solidFill>
                  <a:srgbClr val="12233E"/>
                </a:solidFill>
                <a:latin typeface="Microsoft YaHei"/>
              </a:rPr>
              <a:t>通道删除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35240" y="4462272"/>
            <a:ext cx="73152" cy="621792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012680" y="4462272"/>
            <a:ext cx="15544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73152" tIns="73152" bIns="73152"/>
          <a:lstStyle/>
          <a:p>
            <a:pPr algn="ctr"/>
            <a:r>
              <a:rPr sz="1800" b="1">
                <a:solidFill>
                  <a:srgbClr val="12233E"/>
                </a:solidFill>
                <a:latin typeface="Microsoft YaHei"/>
              </a:rPr>
              <a:t>紧凑模型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12680" y="4462272"/>
            <a:ext cx="73152" cy="621792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H="1">
            <a:off x="3977639" y="3566160"/>
            <a:ext cx="457201" cy="896112"/>
          </a:xfrm>
          <a:prstGeom prst="line">
            <a:avLst/>
          </a:prstGeom>
          <a:ln w="25400">
            <a:solidFill>
              <a:srgbClr val="E77E3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937760" y="4773168"/>
            <a:ext cx="502920" cy="0"/>
          </a:xfrm>
          <a:prstGeom prst="line">
            <a:avLst/>
          </a:prstGeom>
          <a:ln w="25400">
            <a:solidFill>
              <a:srgbClr val="E77E3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132320" y="4773168"/>
            <a:ext cx="502920" cy="0"/>
          </a:xfrm>
          <a:prstGeom prst="line">
            <a:avLst/>
          </a:prstGeom>
          <a:ln w="25400">
            <a:solidFill>
              <a:srgbClr val="E77E3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509760" y="4773168"/>
            <a:ext cx="502920" cy="0"/>
          </a:xfrm>
          <a:prstGeom prst="line">
            <a:avLst/>
          </a:prstGeom>
          <a:ln w="25400">
            <a:solidFill>
              <a:srgbClr val="E77E3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Compact export 是训练后的结构转换路径，不是普通前向特征流。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06 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预算门控与资源约束</a:t>
            </a:r>
          </a:p>
        </p:txBody>
      </p:sp>
      <p:pic>
        <p:nvPicPr>
          <p:cNvPr id="5" name="Picture 4" descr="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625" y="1234440"/>
            <a:ext cx="6951070" cy="822960"/>
          </a:xfrm>
          <a:prstGeom prst="rect">
            <a:avLst/>
          </a:prstGeom>
        </p:spPr>
      </p:pic>
      <p:pic>
        <p:nvPicPr>
          <p:cNvPr id="6" name="Picture 5" descr="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540" y="2423160"/>
            <a:ext cx="7337240" cy="868680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3794760"/>
          <a:ext cx="4937760" cy="1645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46520" y="3822191"/>
            <a:ext cx="44348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2233E"/>
                </a:solidFill>
                <a:latin typeface="Microsoft YaHei"/>
              </a:rPr>
              <a:t>解释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门控用于学习通道重要性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最终结论基于导出的紧凑模型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3822191"/>
            <a:ext cx="82296" cy="1170432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实际 MAC 与 65% / 80% / 90% 目标高度一致。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07 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融合兼容 compact export：从 source 到 compact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2233E"/>
                </a:solidFill>
                <a:latin typeface="Microsoft YaHei"/>
              </a:rPr>
              <a:t>1. Source model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保留原结构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门控未物理删除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82296" cy="150876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20440" y="182880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2233E"/>
                </a:solidFill>
                <a:latin typeface="Microsoft YaHei"/>
              </a:rPr>
              <a:t>2. Gate projection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阈值 η 选择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终端兼容约束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828800"/>
            <a:ext cx="82296" cy="150876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2423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2233E"/>
                </a:solidFill>
                <a:latin typeface="Microsoft YaHei"/>
              </a:rPr>
              <a:t>3. Physical removal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删除通道/BN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依赖切片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828800"/>
            <a:ext cx="82296" cy="150876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89720" y="1828800"/>
            <a:ext cx="2240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2233E"/>
                </a:solidFill>
                <a:latin typeface="Microsoft YaHei"/>
              </a:rPr>
              <a:t>4. Compact model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真实变小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可部署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20" y="1828800"/>
            <a:ext cx="82296" cy="150876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108960" y="2578608"/>
            <a:ext cx="411480" cy="0"/>
          </a:xfrm>
          <a:prstGeom prst="line">
            <a:avLst/>
          </a:prstGeom>
          <a:ln w="25400">
            <a:solidFill>
              <a:srgbClr val="E77E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2578608"/>
            <a:ext cx="411480" cy="0"/>
          </a:xfrm>
          <a:prstGeom prst="line">
            <a:avLst/>
          </a:prstGeom>
          <a:ln w="25400">
            <a:solidFill>
              <a:srgbClr val="E77E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78240" y="2578608"/>
            <a:ext cx="411480" cy="0"/>
          </a:xfrm>
          <a:prstGeom prst="line">
            <a:avLst/>
          </a:prstGeom>
          <a:ln w="25400">
            <a:solidFill>
              <a:srgbClr val="379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" y="3886200"/>
            <a:ext cx="996696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2233E"/>
                </a:solidFill>
                <a:latin typeface="Microsoft YaHei"/>
              </a:rPr>
              <a:t>为什么不是普通剪枝？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多模态分支压缩后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仍需保持融合层终端特征接口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86200"/>
            <a:ext cx="82296" cy="1133856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物理导出的紧凑模型保持与 source model 接近的精度。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08 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可用性感知可靠融合：使用论文最终公式</a:t>
            </a:r>
          </a:p>
        </p:txBody>
      </p:sp>
      <p:pic>
        <p:nvPicPr>
          <p:cNvPr id="5" name="Picture 4" descr="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881" y="1417320"/>
            <a:ext cx="7151758" cy="960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297180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971800"/>
            <a:ext cx="82296" cy="1097280"/>
          </a:xfrm>
          <a:prstGeom prst="rect">
            <a:avLst/>
          </a:prstGeom>
          <a:solidFill>
            <a:srgbClr val="BE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136392"/>
            <a:ext cx="268833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缺失模态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557016"/>
            <a:ext cx="2688336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可用性为零时
该模态权重为零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97180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971800"/>
            <a:ext cx="82296" cy="109728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136392"/>
            <a:ext cx="268833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可用模态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557016"/>
            <a:ext cx="2688336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通过质量分数
和温度进行竞争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97180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2971800"/>
            <a:ext cx="82296" cy="109728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3136392"/>
            <a:ext cx="268833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融合结果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3557016"/>
            <a:ext cx="2688336" cy="43891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按可靠性权重
得到融合特征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原简化 softmax 写法已替换为论文中的 masked reliability fusion 公式。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09 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退化监督可靠性：学习 corrupted-but-available 输入</a:t>
            </a:r>
          </a:p>
        </p:txBody>
      </p:sp>
      <p:pic>
        <p:nvPicPr>
          <p:cNvPr id="5" name="Picture 4" descr="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355" y="1325880"/>
            <a:ext cx="6178730" cy="731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27889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788920"/>
            <a:ext cx="82296" cy="114300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953512"/>
            <a:ext cx="17282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干净可用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374136"/>
            <a:ext cx="172821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质量目标高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7889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788920"/>
            <a:ext cx="82296" cy="1143000"/>
          </a:xfrm>
          <a:prstGeom prst="rect">
            <a:avLst/>
          </a:prstGeom>
          <a:solidFill>
            <a:srgbClr val="BE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953512"/>
            <a:ext cx="17282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物理缺失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374136"/>
            <a:ext cx="172821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质量目标为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7889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2788920"/>
            <a:ext cx="82296" cy="11430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7607" y="2953512"/>
            <a:ext cx="17282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噪声/遮挡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7" y="3374136"/>
            <a:ext cx="172821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中间质量目标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7889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2788920"/>
            <a:ext cx="82296" cy="11430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2953512"/>
            <a:ext cx="172821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下采样 ×4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374136"/>
            <a:ext cx="1728216" cy="4846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更低质量目标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可靠性分数是退化监督的融合诊断信号，不宣称物理质量校准。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10 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实验协议：三数据集承担不同角色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3108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82296" cy="192024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36192"/>
            <a:ext cx="277977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Houston2013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56816"/>
            <a:ext cx="2779776" cy="1261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主实验
官方划分
预算和消融最完整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71600"/>
            <a:ext cx="3108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371600"/>
            <a:ext cx="82296" cy="192024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536192"/>
            <a:ext cx="277977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Trento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956816"/>
            <a:ext cx="2779776" cy="1261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外部验证
精度接近饱和
检验效率保持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108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82296" cy="19202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36192"/>
            <a:ext cx="277977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MUUFL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956816"/>
            <a:ext cx="2779776" cy="12618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0">
                <a:solidFill>
                  <a:srgbClr val="5C6776"/>
                </a:solidFill>
                <a:latin typeface="Microsoft YaHei"/>
              </a:rPr>
              <a:t>压力测试
类别不均衡
观察 trade-off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77639"/>
            <a:ext cx="9875520" cy="914400"/>
          </a:xfrm>
          <a:prstGeom prst="rect">
            <a:avLst/>
          </a:prstGeom>
          <a:noFill/>
        </p:spPr>
        <p:txBody>
          <a:bodyPr wrap="square" lIns="36576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21922"/>
                </a:solidFill>
                <a:latin typeface="Microsoft YaHei"/>
              </a:defRPr>
            </a:pPr>
            <a:r>
              <a:t>状态：Full、main-only、aux-only、noise、downsample、occlusion。</a:t>
            </a:r>
          </a:p>
          <a:p>
            <a:pPr>
              <a:spcAft>
                <a:spcPts val="1000"/>
              </a:spcAft>
              <a:defRPr sz="2100">
                <a:solidFill>
                  <a:srgbClr val="121922"/>
                </a:solidFill>
                <a:latin typeface="Microsoft YaHei"/>
              </a:defRPr>
            </a:pPr>
            <a:r>
              <a:t>指标：OA、AA、Kappa、实际 MAC、参数比例和必要延迟。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三数据集不是排行榜，而是分别支撑主消融、效率保持和困难压力测试。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11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预算对齐与真实导出结果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68680" y="1234440"/>
          <a:ext cx="64922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09560" y="1463040"/>
            <a:ext cx="219456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3400" b="1">
                <a:solidFill>
                  <a:srgbClr val="1CA6B7"/>
                </a:solidFill>
                <a:latin typeface="Microsoft YaHei"/>
              </a:rPr>
              <a:t>64.96%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423160"/>
            <a:ext cx="219456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3400" b="1">
                <a:solidFill>
                  <a:srgbClr val="E77E34"/>
                </a:solidFill>
                <a:latin typeface="Microsoft YaHei"/>
              </a:rPr>
              <a:t>80.01%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3383280"/>
            <a:ext cx="219456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3400" b="1">
                <a:solidFill>
                  <a:srgbClr val="379774"/>
                </a:solidFill>
                <a:latin typeface="Microsoft YaHei"/>
              </a:rPr>
              <a:t>90.07%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4160520"/>
            <a:ext cx="27432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000" b="1">
                <a:solidFill>
                  <a:srgbClr val="12233E"/>
                </a:solidFill>
                <a:latin typeface="Microsoft YaHei"/>
              </a:rPr>
              <a:t>三档目标均稳定导出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预算化门控可以被转化为真实 compact model，而不只是训练时软门控。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12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与压缩 baseline 的 accuracy-efficiency 比较</a:t>
            </a:r>
          </a:p>
        </p:txBody>
      </p:sp>
      <p:pic>
        <p:nvPicPr>
          <p:cNvPr id="5" name="Picture 4" descr="fig_pareto_accuracy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638" y="1143000"/>
            <a:ext cx="5237203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353312"/>
            <a:ext cx="30632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2233E"/>
                </a:solidFill>
                <a:latin typeface="Microsoft YaHei"/>
              </a:rPr>
              <a:t>读图方式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横轴：实际 MAC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纵轴：OA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1353312"/>
            <a:ext cx="82296" cy="1298448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2907792"/>
            <a:ext cx="30632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2233E"/>
                </a:solidFill>
                <a:latin typeface="Microsoft YaHei"/>
              </a:rPr>
              <a:t>关键点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80% 目标附近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比较 compact OA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2907792"/>
            <a:ext cx="82296" cy="1298448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该页只保留 Pareto 主图，避免与多面板 overview 重复。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13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缺失模态鲁棒性：modality dropout 改善 fallback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234440"/>
          <a:ext cx="65836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01000" y="1600200"/>
            <a:ext cx="228600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3200" b="1">
                <a:solidFill>
                  <a:srgbClr val="1CA6B7"/>
                </a:solidFill>
                <a:latin typeface="Microsoft YaHei"/>
              </a:rPr>
              <a:t>+12.50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057400"/>
            <a:ext cx="20116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800" b="0">
                <a:solidFill>
                  <a:srgbClr val="5C6776"/>
                </a:solidFill>
                <a:latin typeface="Microsoft YaHei"/>
              </a:rPr>
              <a:t>HSI-only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971800"/>
            <a:ext cx="228600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3200" b="1">
                <a:solidFill>
                  <a:srgbClr val="379774"/>
                </a:solidFill>
                <a:latin typeface="Microsoft YaHei"/>
              </a:rPr>
              <a:t>+10.68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429000"/>
            <a:ext cx="201168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800" b="0">
                <a:solidFill>
                  <a:srgbClr val="5C6776"/>
                </a:solidFill>
                <a:latin typeface="Microsoft YaHei"/>
              </a:rPr>
              <a:t>LiDAR-only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训练时暴露缺失状态显著提升单模态 fallback。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14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连续退化鲁棒性：adverse average 明显提升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234440"/>
          <a:ext cx="69494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01000" y="1783080"/>
            <a:ext cx="297180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800" b="1">
                <a:solidFill>
                  <a:srgbClr val="E77E34"/>
                </a:solidFill>
                <a:latin typeface="Microsoft YaHei"/>
              </a:rPr>
              <a:t>74.89 → 84.76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331720"/>
            <a:ext cx="2971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800" b="0">
                <a:solidFill>
                  <a:srgbClr val="5C6776"/>
                </a:solidFill>
                <a:latin typeface="Microsoft YaHei"/>
              </a:rPr>
              <a:t>adverse-state 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3154680"/>
            <a:ext cx="301752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2200" b="1">
                <a:solidFill>
                  <a:srgbClr val="12233E"/>
                </a:solidFill>
                <a:latin typeface="Microsoft YaHei"/>
              </a:rPr>
              <a:t>Full OA 保持 86.90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multi-degradation p=0.25 在鲁棒性与 clean OA 之间最平衡。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15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多数据集验证：不同数据集回答不同问题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数据集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Full OA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Main-only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Occlusion-50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MACs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Houston2013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86.90±1.65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80.04±1.93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85.57±1.64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Trento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98.94±0.94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92.89±3.15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98.16±1.87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79.90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MUUFL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86.87±1.79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83.03±2.14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85.99±2.08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79.97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388620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886200"/>
            <a:ext cx="82296" cy="91440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050791"/>
            <a:ext cx="2596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Houston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471416"/>
            <a:ext cx="2596896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0">
                <a:solidFill>
                  <a:srgbClr val="5C6776"/>
                </a:solidFill>
                <a:latin typeface="Microsoft YaHei"/>
              </a:rPr>
              <a:t>主消融证据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388620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3886200"/>
            <a:ext cx="82296" cy="91440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4050791"/>
            <a:ext cx="2596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Trento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4471416"/>
            <a:ext cx="2596896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0">
                <a:solidFill>
                  <a:srgbClr val="5C6776"/>
                </a:solidFill>
                <a:latin typeface="Microsoft YaHei"/>
              </a:rPr>
              <a:t>效率保持证据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88620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3886200"/>
            <a:ext cx="82296" cy="9144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4050791"/>
            <a:ext cx="25968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MUUFL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4471416"/>
            <a:ext cx="2596896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0">
                <a:solidFill>
                  <a:srgbClr val="5C6776"/>
                </a:solidFill>
                <a:latin typeface="Microsoft YaHei"/>
              </a:rPr>
              <a:t>困难 trade-off 证据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不要把三数据集写成简单排行榜，而要写成角色分工证据。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16 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消融、trade-off 与局限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234440"/>
          <a:ext cx="10241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w/o mask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去掉可用性掩码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HSI-only 下降 3.32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Noise quality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只监督噪声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遮挡改善不足</a:t>
                      </a:r>
                    </a:p>
                  </a:txBody>
                  <a:tcPr>
                    <a:solidFill>
                      <a:srgbClr val="EB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Multi-deg 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轻量多退化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21922"/>
                          </a:solidFill>
                          <a:latin typeface="Microsoft YaHei"/>
                        </a:rPr>
                        <a:t>adverse average 最优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3364992"/>
            <a:ext cx="31546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2233E"/>
                </a:solidFill>
                <a:latin typeface="Microsoft YaHei"/>
              </a:rPr>
              <a:t>已支撑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预算对齐、真实导出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退化鲁棒性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364992"/>
            <a:ext cx="82296" cy="1298448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3364992"/>
            <a:ext cx="31546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2233E"/>
                </a:solidFill>
                <a:latin typeface="Microsoft YaHei"/>
              </a:rPr>
              <a:t>需谨慎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MUUFL 存在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clean-robustness trade-off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3364992"/>
            <a:ext cx="82296" cy="1298448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01000" y="3364992"/>
            <a:ext cx="315468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109728"/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2233E"/>
                </a:solidFill>
                <a:latin typeface="Microsoft YaHei"/>
              </a:rPr>
              <a:t>下一步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更大 backbone 与更多模态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5C6776"/>
                </a:solidFill>
                <a:latin typeface="Microsoft YaHei"/>
              </a:rPr>
              <a:t>更密集退化曲线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3364992"/>
            <a:ext cx="82296" cy="1298448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本文主张是联合权衡，不是所有场景 full OA 都单调提升。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05840"/>
            <a:ext cx="237744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800" b="1">
                <a:solidFill>
                  <a:srgbClr val="1CA6B7"/>
                </a:solidFill>
                <a:latin typeface="Microsoft YaHei"/>
              </a:rPr>
              <a:t>一句话结论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241280" cy="8229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BRM-Net 面向资源受限场景，学习可真实导出的紧凑多模态分类器，并显式评估缺失与退化模态。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429000"/>
            <a:ext cx="3154680" cy="114300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3429000"/>
            <a:ext cx="82296" cy="114300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3593592"/>
            <a:ext cx="2825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贡献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4050791"/>
            <a:ext cx="2825496" cy="4297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EBF2F7"/>
                </a:solidFill>
                <a:latin typeface="Microsoft YaHei"/>
              </a:rPr>
              <a:t>融合兼容预算化紧凑导出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429000"/>
            <a:ext cx="3154680" cy="114300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3429000"/>
            <a:ext cx="82296" cy="11430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3593592"/>
            <a:ext cx="2825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贡献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4050791"/>
            <a:ext cx="2825496" cy="4297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EBF2F7"/>
                </a:solidFill>
                <a:latin typeface="Microsoft YaHei"/>
              </a:rPr>
              <a:t>退化监督可靠性融合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429000"/>
            <a:ext cx="3154680" cy="114300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3429000"/>
            <a:ext cx="82296" cy="114300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3593592"/>
            <a:ext cx="2825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贡献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4050791"/>
            <a:ext cx="2825496" cy="4297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EBF2F7"/>
                </a:solidFill>
                <a:latin typeface="Microsoft YaHei"/>
              </a:rPr>
              <a:t>精度-效率-鲁棒性联合评估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15000"/>
            <a:ext cx="228600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400" b="1">
                <a:solidFill>
                  <a:srgbClr val="1CA6B7"/>
                </a:solidFill>
                <a:latin typeface="Microsoft YaHei"/>
              </a:rPr>
              <a:t>Q&amp;A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备份 1：retained width 结构诊断</a:t>
            </a:r>
          </a:p>
        </p:txBody>
      </p:sp>
      <p:pic>
        <p:nvPicPr>
          <p:cNvPr id="5" name="Picture 4" descr="fig_gate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136" y="1097280"/>
            <a:ext cx="5087488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保留宽度用于解释 learned nonuniform export 的层级分配。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 | 备份页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备份 2：退化可靠性诊断曲线</a:t>
            </a:r>
          </a:p>
        </p:txBody>
      </p:sp>
      <p:pic>
        <p:nvPicPr>
          <p:cNvPr id="5" name="Picture 4" descr="fig_controlled_corruption_reliabili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211" y="1005840"/>
            <a:ext cx="5744777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可靠性曲线是机制诊断，不是物理质量校准声明。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 | 备份页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56032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>
                <a:solidFill>
                  <a:srgbClr val="1CA6B7"/>
                </a:solidFill>
                <a:latin typeface="Microsoft YaHei"/>
              </a:rPr>
              <a:t>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3100" b="1">
                <a:solidFill>
                  <a:srgbClr val="12233E"/>
                </a:solidFill>
                <a:latin typeface="Microsoft YaHei"/>
              </a:rPr>
              <a:t>备份 3：MUUFL 错误分析</a:t>
            </a:r>
          </a:p>
        </p:txBody>
      </p:sp>
      <p:pic>
        <p:nvPicPr>
          <p:cNvPr id="5" name="Picture 4" descr="fig_muufl_erro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509" y="1097280"/>
            <a:ext cx="6927942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5715000"/>
            <a:ext cx="10698480" cy="530352"/>
          </a:xfrm>
          <a:prstGeom prst="roundRect">
            <a:avLst/>
          </a:prstGeom>
          <a:solidFill>
            <a:srgbClr val="E7F0F7"/>
          </a:solidFill>
          <a:ln>
            <a:solidFill>
              <a:srgbClr val="C4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24728"/>
            <a:ext cx="102870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100" b="1">
                <a:solidFill>
                  <a:srgbClr val="12233E"/>
                </a:solidFill>
                <a:latin typeface="Microsoft YaHei"/>
              </a:rPr>
              <a:t>MUUFL 用于说明鲁棒训练可能带来类别相关的 clean-robustness trade-off。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9672"/>
            <a:ext cx="365760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5C6776"/>
                </a:solidFill>
                <a:latin typeface="Microsoft YaHei"/>
              </a:rPr>
              <a:t>BRM-Net 中文学术汇报 | 备份页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5C6776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417320"/>
            <a:ext cx="3154680" cy="132588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417320"/>
            <a:ext cx="82296" cy="1325880"/>
          </a:xfrm>
          <a:prstGeom prst="rect">
            <a:avLst/>
          </a:prstGeom>
          <a:solidFill>
            <a:srgbClr val="1CA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581912"/>
            <a:ext cx="2825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动态路由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039112"/>
            <a:ext cx="2825496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EBF2F7"/>
                </a:solidFill>
                <a:latin typeface="Microsoft YaHei"/>
              </a:rPr>
              <a:t>面向不同预算和模态状态选择 profile。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154680" cy="132588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1417320"/>
            <a:ext cx="82296" cy="132588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581912"/>
            <a:ext cx="2825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加权交叉熵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2039112"/>
            <a:ext cx="2825496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EBF2F7"/>
                </a:solidFill>
                <a:latin typeface="Microsoft YaHei"/>
              </a:rPr>
              <a:t>处理 MUUFL 等类别不均衡问题。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3154680" cy="1325880"/>
          </a:xfrm>
          <a:prstGeom prst="roundRect">
            <a:avLst/>
          </a:prstGeom>
          <a:solidFill>
            <a:srgbClr val="1E3756"/>
          </a:solidFill>
          <a:ln>
            <a:solidFill>
              <a:srgbClr val="829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417320"/>
            <a:ext cx="82296" cy="1325880"/>
          </a:xfrm>
          <a:prstGeom prst="rect">
            <a:avLst/>
          </a:prstGeom>
          <a:solidFill>
            <a:srgbClr val="37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1581912"/>
            <a:ext cx="2825496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演示系统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039112"/>
            <a:ext cx="2825496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800" b="0">
                <a:solidFill>
                  <a:srgbClr val="EBF2F7"/>
                </a:solidFill>
                <a:latin typeface="Microsoft YaHei"/>
              </a:rPr>
              <a:t>交互选择数据集、预算和模态状态。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1005840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这些内容不进入投稿主线，作为毕业论文工作量和答辩演示补充。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