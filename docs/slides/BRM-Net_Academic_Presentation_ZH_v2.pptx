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Target vs Actual MAC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预算对齐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Compact OA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85.53</c:v>
                </c:pt>
                <c:pt idx="1">
                  <c:v>85.84</c:v>
                </c:pt>
                <c:pt idx="2">
                  <c:v>85.74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缺失模态状态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无 dropout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LiDAR noise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86.74</c:v>
                </c:pt>
                <c:pt idx="1">
                  <c:v>63.34</c:v>
                </c:pt>
                <c:pt idx="2">
                  <c:v>32.27</c:v>
                </c:pt>
                <c:pt idx="3">
                  <c:v>86.13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dropout 0.25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LiDAR noise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87.01</c:v>
                </c:pt>
                <c:pt idx="1">
                  <c:v>75.84</c:v>
                </c:pt>
                <c:pt idx="2">
                  <c:v>42.95</c:v>
                </c:pt>
                <c:pt idx="3">
                  <c:v>84.09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Clean vs degraded states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Adverse Avg.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74.89</c:v>
                </c:pt>
                <c:pt idx="1">
                  <c:v>76.41</c:v>
                </c:pt>
                <c:pt idx="2">
                  <c:v>79.54</c:v>
                </c:pt>
                <c:pt idx="3">
                  <c:v>84.72</c:v>
                </c:pt>
                <c:pt idx="4">
                  <c:v>84.76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OA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86.97</c:v>
                </c:pt>
                <c:pt idx="1">
                  <c:v>86.72</c:v>
                </c:pt>
                <c:pt idx="2">
                  <c:v>87.45</c:v>
                </c:pt>
                <c:pt idx="3">
                  <c:v>85.99</c:v>
                </c:pt>
                <c:pt idx="4">
                  <c:v>86.9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325880"/>
            <a:ext cx="98755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400" b="1">
                <a:solidFill>
                  <a:srgbClr val="1CA6B7"/>
                </a:solidFill>
                <a:latin typeface="Microsoft YaHei"/>
              </a:rPr>
              <a:t>面向缺失与退化模态的融合兼容 compact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38528"/>
            <a:ext cx="9966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Fusion-Compatible Compact Export with Degradation-Supervised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246120"/>
            <a:ext cx="297180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82296" cy="11430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核心问题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867911"/>
            <a:ext cx="264261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模型能否真实变小，并稳定处理缺失/退化模态？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246120"/>
            <a:ext cx="297180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324612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核心证据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867911"/>
            <a:ext cx="264261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目标 MAC 对齐、真实导出、多状态鲁棒性。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246120"/>
            <a:ext cx="297180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24612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汇报定位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867911"/>
            <a:ext cx="264261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18 页主汇报 + 4 页备份页。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5486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毕业预答辩 / 学术组会 / 投稿汇报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01 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研究动机：多模态更强，也更难部署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1D5C91"/>
                </a:solidFill>
                <a:latin typeface="Microsoft YaHei"/>
              </a:rPr>
              <a:t>HSI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19456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121922"/>
                </a:solidFill>
                <a:latin typeface="Microsoft YaHei"/>
              </a:rPr>
              <a:t>光谱细节丰富
但维度高、计算重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011680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400" b="1">
                <a:solidFill>
                  <a:srgbClr val="E77E34"/>
                </a:solidFill>
                <a:latin typeface="Microsoft YaHe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210312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379774"/>
                </a:solidFill>
                <a:latin typeface="Microsoft YaHei"/>
              </a:rPr>
              <a:t>LiDAR / 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9456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121922"/>
                </a:solidFill>
                <a:latin typeface="Microsoft YaHei"/>
              </a:rPr>
              <a:t>几何/高度信息
提升类别区分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57400"/>
            <a:ext cx="5486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1CA6B7"/>
                </a:solidFill>
                <a:latin typeface="Microsoft YaHei"/>
              </a:rPr>
              <a:t>=&gt;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600200"/>
            <a:ext cx="21945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12233E"/>
                </a:solidFill>
                <a:latin typeface="Microsoft YaHei"/>
              </a:rPr>
              <a:t>多分支融合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148840"/>
            <a:ext cx="27432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121922"/>
                </a:solidFill>
                <a:latin typeface="Microsoft YaHei"/>
              </a:rPr>
              <a:t>精度提升
计算和故障模式增加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9692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82296" cy="9144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096511"/>
            <a:ext cx="936345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部署导向评价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517136"/>
            <a:ext cx="936345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不能只看 full-modality OA，还要报告真实 MAC、参数、缺失模态和退化模态表现。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多模态遥感分类需要从“精度优先”转向“精度-效率-鲁棒性联合评价”。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02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问题：预算、缺失与退化形成三重约束</a:t>
            </a:r>
          </a:p>
        </p:txBody>
      </p:sp>
      <p:sp>
        <p:nvSpPr>
          <p:cNvPr id="5" name="Oval 4"/>
          <p:cNvSpPr/>
          <p:nvPr/>
        </p:nvSpPr>
        <p:spPr>
          <a:xfrm>
            <a:off x="4800600" y="1143000"/>
            <a:ext cx="1828800" cy="1051560"/>
          </a:xfrm>
          <a:prstGeom prst="ellipse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56632" y="1453896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资源预算</a:t>
            </a:r>
          </a:p>
        </p:txBody>
      </p:sp>
      <p:sp>
        <p:nvSpPr>
          <p:cNvPr id="7" name="Oval 6"/>
          <p:cNvSpPr/>
          <p:nvPr/>
        </p:nvSpPr>
        <p:spPr>
          <a:xfrm>
            <a:off x="2148840" y="3794760"/>
            <a:ext cx="1828800" cy="1051560"/>
          </a:xfrm>
          <a:prstGeom prst="ellipse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4105656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模态缺失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3794760"/>
            <a:ext cx="1828800" cy="1051560"/>
          </a:xfrm>
          <a:prstGeom prst="ellipse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4105656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模态退化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63240" y="2194560"/>
            <a:ext cx="2651760" cy="1600200"/>
          </a:xfrm>
          <a:prstGeom prst="line">
            <a:avLst/>
          </a:prstGeom>
          <a:ln w="25400">
            <a:solidFill>
              <a:srgbClr val="12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0" y="2194560"/>
            <a:ext cx="2651760" cy="1600200"/>
          </a:xfrm>
          <a:prstGeom prst="line">
            <a:avLst/>
          </a:prstGeom>
          <a:ln w="25400">
            <a:solidFill>
              <a:srgbClr val="12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39" y="4315968"/>
            <a:ext cx="3474721" cy="0"/>
          </a:xfrm>
          <a:prstGeom prst="line">
            <a:avLst/>
          </a:prstGeom>
          <a:ln w="25400">
            <a:solidFill>
              <a:srgbClr val="12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1325880"/>
            <a:ext cx="2926080" cy="1737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21922"/>
                </a:solidFill>
                <a:latin typeface="Microsoft YaHei"/>
              </a:defRPr>
            </a:pPr>
            <a:r>
              <a:t>导出模型必须真实满足目标资源比例。</a:t>
            </a:r>
          </a:p>
          <a:p>
            <a:pPr>
              <a:spcAft>
                <a:spcPts val="1000"/>
              </a:spcAft>
              <a:defRPr sz="1900">
                <a:solidFill>
                  <a:srgbClr val="121922"/>
                </a:solidFill>
                <a:latin typeface="Microsoft YaHei"/>
              </a:defRPr>
            </a:pPr>
            <a:r>
              <a:t>缺失模态需要被排除出融合竞争。</a:t>
            </a:r>
          </a:p>
          <a:p>
            <a:pPr>
              <a:spcAft>
                <a:spcPts val="1000"/>
              </a:spcAft>
              <a:defRPr sz="1900">
                <a:solidFill>
                  <a:srgbClr val="121922"/>
                </a:solidFill>
                <a:latin typeface="Microsoft YaHei"/>
              </a:defRPr>
            </a:pPr>
            <a:r>
              <a:t>退化但可用的模态不能简单按缺失处理。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417320"/>
            <a:ext cx="3474720" cy="8229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目标：一个可导出、可解释、可多状态评估的紧凑多模态分类器。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BRM-Net 处理的是三个约束的耦合问题，而不是单独做剪枝或缺失模态补全。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03 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现有方法缺口：四类工作各解决一部分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方法类别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资源预算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真实导出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缺失/退化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融合兼容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结构剪枝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弹性网络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缺失模态学习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BRM-Net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本文的空缺定位是：融合接口可保持的真实 compact export + 退化监督可靠融合。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04 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三项核心贡献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6400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4200" b="1">
                <a:solidFill>
                  <a:srgbClr val="1CA6B7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234440"/>
            <a:ext cx="8595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234440"/>
            <a:ext cx="82296" cy="9144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1399032"/>
            <a:ext cx="82661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融合兼容预算化紧凑导出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819656"/>
            <a:ext cx="826617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学习通道门控，并在保持融合接口的前提下导出物理紧凑模型。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6400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4200" b="1">
                <a:solidFill>
                  <a:srgbClr val="E77E34"/>
                </a:solidFill>
                <a:latin typeface="Microsoft YaHe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560320"/>
            <a:ext cx="8595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2560320"/>
            <a:ext cx="82296" cy="9144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2724912"/>
            <a:ext cx="82661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退化监督可靠性融合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145536"/>
            <a:ext cx="826617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显式监督 corrupted-but-available 输入，不依赖重建网络。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6400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4200" b="1">
                <a:solidFill>
                  <a:srgbClr val="379774"/>
                </a:solidFill>
                <a:latin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886200"/>
            <a:ext cx="8595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886200"/>
            <a:ext cx="82296" cy="9144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4050791"/>
            <a:ext cx="82661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精度-效率-鲁棒性联合评估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471416"/>
            <a:ext cx="826617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报告 actual MAC、missing states、degraded states 和多数据集证据。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投稿主线收束为三点：真实导出、退化可靠融合、联合评估。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05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BRM-Net 总体框架：双分支、三阶段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2801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CA6B7"/>
                </a:solidFill>
                <a:latin typeface="Microsoft YaHei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097280"/>
            <a:ext cx="19202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E77E34"/>
                </a:solidFill>
                <a:latin typeface="Microsoft YaHei"/>
              </a:rPr>
              <a:t>Compact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097280"/>
            <a:ext cx="12801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379774"/>
                </a:solidFill>
                <a:latin typeface="Microsoft YaHei"/>
              </a:rPr>
              <a:t>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45920"/>
            <a:ext cx="82296" cy="685800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10881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HSI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31136"/>
            <a:ext cx="108813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645920"/>
            <a:ext cx="1371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645920"/>
            <a:ext cx="82296" cy="685800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1810512"/>
            <a:ext cx="10424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Enc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231136"/>
            <a:ext cx="104241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645920"/>
            <a:ext cx="1143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1645920"/>
            <a:ext cx="82296" cy="6858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7" y="1810512"/>
            <a:ext cx="8138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7" y="2231136"/>
            <a:ext cx="81381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64592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1645920"/>
            <a:ext cx="82296" cy="685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1810512"/>
            <a:ext cx="12252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Q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2231136"/>
            <a:ext cx="1225295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03120" y="1993392"/>
            <a:ext cx="22860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03320" y="1993392"/>
            <a:ext cx="274319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1993392"/>
            <a:ext cx="36576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292608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2926080"/>
            <a:ext cx="82296" cy="6858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090672"/>
            <a:ext cx="10881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Aux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511296"/>
            <a:ext cx="108813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2926080"/>
            <a:ext cx="1371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2926080"/>
            <a:ext cx="82296" cy="6858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2888" y="3090672"/>
            <a:ext cx="10424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Enc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3511296"/>
            <a:ext cx="104241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7639" y="2926080"/>
            <a:ext cx="1143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77639" y="2926080"/>
            <a:ext cx="82296" cy="6858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78807" y="3090672"/>
            <a:ext cx="8138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7" y="3511296"/>
            <a:ext cx="81381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292608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2926080"/>
            <a:ext cx="82296" cy="685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87568" y="3090672"/>
            <a:ext cx="12252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Q head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7568" y="3511296"/>
            <a:ext cx="1225295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103120" y="3273552"/>
            <a:ext cx="22860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03320" y="3273552"/>
            <a:ext cx="274319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20640" y="3273552"/>
            <a:ext cx="36576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315200" y="2240280"/>
            <a:ext cx="1645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0" y="2240280"/>
            <a:ext cx="82296" cy="77724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2404872"/>
            <a:ext cx="13167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2825496"/>
            <a:ext cx="1316736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72600" y="224028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72600" y="2240280"/>
            <a:ext cx="82296" cy="77724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73768" y="2404872"/>
            <a:ext cx="90525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Head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73768" y="2825496"/>
            <a:ext cx="905256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40880" y="1993392"/>
            <a:ext cx="274320" cy="475488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040880" y="2743200"/>
            <a:ext cx="274320" cy="530352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961120" y="2633472"/>
            <a:ext cx="41148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931920" y="4389120"/>
            <a:ext cx="2011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31920" y="4389120"/>
            <a:ext cx="82296" cy="685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33087" y="4553712"/>
            <a:ext cx="1682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阈值 η 选择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3087" y="4974336"/>
            <a:ext cx="168249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55080" y="438912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55080" y="4389120"/>
            <a:ext cx="82296" cy="685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6248" y="4553712"/>
            <a:ext cx="19568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依赖通道删除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56248" y="4974336"/>
            <a:ext cx="195681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52560" y="438912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52560" y="4389120"/>
            <a:ext cx="82296" cy="6858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53728" y="4553712"/>
            <a:ext cx="1499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紧凑模型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53728" y="4974336"/>
            <a:ext cx="1499616" cy="27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/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4937760" y="3657600"/>
            <a:ext cx="182880" cy="731520"/>
          </a:xfrm>
          <a:prstGeom prst="line">
            <a:avLst/>
          </a:prstGeom>
          <a:ln w="25400">
            <a:solidFill>
              <a:srgbClr val="E77E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943600" y="4736592"/>
            <a:ext cx="41148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641080" y="4736592"/>
            <a:ext cx="41148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Compact export 是训练后的结构转换路径，不是普通前向特征流。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06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预算门控与资源约束</a:t>
            </a:r>
          </a:p>
        </p:txBody>
      </p:sp>
      <p:pic>
        <p:nvPicPr>
          <p:cNvPr id="5" name="Picture 4" descr="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625" y="1234440"/>
            <a:ext cx="6951070" cy="822960"/>
          </a:xfrm>
          <a:prstGeom prst="rect">
            <a:avLst/>
          </a:prstGeom>
        </p:spPr>
      </p:pic>
      <p:pic>
        <p:nvPicPr>
          <p:cNvPr id="6" name="Picture 5" descr="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540" y="2423160"/>
            <a:ext cx="7337240" cy="86868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3794760"/>
          <a:ext cx="4937760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977639"/>
            <a:ext cx="4206240" cy="10058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门控只用于学习通道重要性。</a:t>
            </a:r>
          </a:p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最终结论必须基于导出的紧凑模型。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实际 MAC 与 65% / 80% / 90% 目标高度一致。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07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融合兼容 compact export：从 source 到 compact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82296" cy="109728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1"/>
            <a:ext cx="19568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Source gated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93976"/>
            <a:ext cx="195681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>保留完整网络
门控仍在源结构中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057400"/>
            <a:ext cx="77724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50876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1508760"/>
            <a:ext cx="82296" cy="10972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673351"/>
            <a:ext cx="18653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Gate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093976"/>
            <a:ext cx="186537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>阈值选择
终端兼容约束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057400"/>
            <a:ext cx="77724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1508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508760"/>
            <a:ext cx="82296" cy="10972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1673351"/>
            <a:ext cx="19568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Physical 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093976"/>
            <a:ext cx="195681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>删除通道、BN
和依赖切片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2057400"/>
            <a:ext cx="731520" cy="0"/>
          </a:xfrm>
          <a:prstGeom prst="line">
            <a:avLst/>
          </a:prstGeom>
          <a:ln w="25400">
            <a:solidFill>
              <a:srgbClr val="379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75520" y="150876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508760"/>
            <a:ext cx="82296" cy="109728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8" y="1673351"/>
            <a:ext cx="12252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Compact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2093976"/>
            <a:ext cx="1225295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5C6776"/>
                </a:solidFill>
                <a:latin typeface="Microsoft YaHei"/>
              </a:rPr>
              <a:t>可部署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3703320"/>
          <a:ext cx="97840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  <a:gridCol w="2446020"/>
                <a:gridCol w="2446020"/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Source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Compact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+0.75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HSI only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78.18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80.04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+1.86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Occlusion-50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84.59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85.57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+0.98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物理导出的紧凑模型保持与 source model 接近的精度。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08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可用性感知可靠融合：使用论文最终公式</a:t>
            </a:r>
          </a:p>
        </p:txBody>
      </p:sp>
      <p:pic>
        <p:nvPicPr>
          <p:cNvPr id="5" name="Picture 4" descr="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881" y="1417320"/>
            <a:ext cx="7151758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29718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82296" cy="1097280"/>
          </a:xfrm>
          <a:prstGeom prst="rect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136392"/>
            <a:ext cx="26883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缺失模态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57016"/>
            <a:ext cx="268833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可用性为零时
该模态权重为零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718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971800"/>
            <a:ext cx="82296" cy="109728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136392"/>
            <a:ext cx="26883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可用模态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557016"/>
            <a:ext cx="268833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通过质量分数
和温度进行竞争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9718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971800"/>
            <a:ext cx="82296" cy="109728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3136392"/>
            <a:ext cx="26883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融合结果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557016"/>
            <a:ext cx="268833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按可靠性权重
得到融合特征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原简化 softmax 写法已替换为论文中的 masked reliability fusion 公式。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09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退化监督可靠性：让模型见到 corrupted-but-available 输入</a:t>
            </a:r>
          </a:p>
        </p:txBody>
      </p:sp>
      <p:pic>
        <p:nvPicPr>
          <p:cNvPr id="5" name="Picture 4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355" y="1325880"/>
            <a:ext cx="617873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8892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干净可用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质量目标高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788920"/>
            <a:ext cx="82296" cy="1143000"/>
          </a:xfrm>
          <a:prstGeom prst="rect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物理缺失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质量目标为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278892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7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噪声/遮挡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中间质量目标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78892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下采样 ×4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更低质量目标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可靠性分数是退化监督的融合诊断信号，不宣称物理质量校准。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10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实验协议：三数据集承担不同角色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82296" cy="192024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27797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Houston2013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56816"/>
            <a:ext cx="2779776" cy="1261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主实验
官方划分
预算和消融最完整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82296" cy="192024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36192"/>
            <a:ext cx="27797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Trento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56816"/>
            <a:ext cx="2779776" cy="1261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外部验证
精度接近饱和
检验效率保持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82296" cy="19202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36192"/>
            <a:ext cx="27797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MUUFL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56816"/>
            <a:ext cx="2779776" cy="1261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压力测试
类别不均衡
观察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9875520" cy="9144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状态：Full、main-only、aux-only、noise、downsample、occlusion。</a:t>
            </a:r>
          </a:p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指标：OA、AA、Kappa、实际 MAC、参数比例和必要延迟。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三数据集不是排行榜，而是分别支撑主消融、效率保持和困难压力测试。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11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预算对齐与真实导出结果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234440"/>
          <a:ext cx="64922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1463040"/>
            <a:ext cx="21945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1CA6B7"/>
                </a:solidFill>
                <a:latin typeface="Microsoft YaHei"/>
              </a:rPr>
              <a:t>64.96%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23160"/>
            <a:ext cx="21945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E77E34"/>
                </a:solidFill>
                <a:latin typeface="Microsoft YaHei"/>
              </a:rPr>
              <a:t>80.01%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383280"/>
            <a:ext cx="21945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379774"/>
                </a:solidFill>
                <a:latin typeface="Microsoft YaHei"/>
              </a:rPr>
              <a:t>90.07%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160520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三档目标均稳定导出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预算化门控可以被转化为真实 compact model，而不只是训练时软门控。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12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与压缩 baseline 的 accuracy-efficiency 比较</a:t>
            </a:r>
          </a:p>
        </p:txBody>
      </p:sp>
      <p:pic>
        <p:nvPicPr>
          <p:cNvPr id="5" name="Picture 4" descr="fig_pareto_accurac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638" y="1143000"/>
            <a:ext cx="5237203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508760"/>
            <a:ext cx="2834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508760"/>
            <a:ext cx="82296" cy="109728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2168" y="1673351"/>
            <a:ext cx="250545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读图方式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2168" y="2093976"/>
            <a:ext cx="250545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横轴为实际 MAC
纵轴为 OA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971800"/>
            <a:ext cx="2834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971800"/>
            <a:ext cx="82296" cy="10972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3136392"/>
            <a:ext cx="250545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关键点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3557016"/>
            <a:ext cx="250545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80% 目标附近
比较 compact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该页只保留 Pareto 主图，避免与多面板 overview 重复。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13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缺失模态鲁棒性：modality dropout 改善 fallback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234440"/>
          <a:ext cx="65836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1600200"/>
            <a:ext cx="22860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200" b="1">
                <a:solidFill>
                  <a:srgbClr val="1CA6B7"/>
                </a:solidFill>
                <a:latin typeface="Microsoft YaHei"/>
              </a:rPr>
              <a:t>+12.50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57400"/>
            <a:ext cx="20116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5C6776"/>
                </a:solidFill>
                <a:latin typeface="Microsoft YaHei"/>
              </a:rPr>
              <a:t>HSI-only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971800"/>
            <a:ext cx="22860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200" b="1">
                <a:solidFill>
                  <a:srgbClr val="379774"/>
                </a:solidFill>
                <a:latin typeface="Microsoft YaHei"/>
              </a:rPr>
              <a:t>+10.68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429000"/>
            <a:ext cx="20116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5C6776"/>
                </a:solidFill>
                <a:latin typeface="Microsoft YaHei"/>
              </a:rPr>
              <a:t>LiDAR-only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训练时暴露缺失状态显著提升单模态 fallback。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14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连续退化鲁棒性：adverse average 明显提升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23444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83879" y="1874519"/>
            <a:ext cx="25603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Microsoft YaHei"/>
              </a:rPr>
              <a:t>74.89 → 84.76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377440"/>
            <a:ext cx="2834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5C6776"/>
                </a:solidFill>
                <a:latin typeface="Microsoft YaHei"/>
              </a:rPr>
              <a:t>adverse-state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154680"/>
            <a:ext cx="30175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12233E"/>
                </a:solidFill>
                <a:latin typeface="Microsoft YaHei"/>
              </a:rPr>
              <a:t>Full OA 保持 86.90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multi-degradation p=0.25 在鲁棒性与 clean OA 之间最平衡。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15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多数据集验证：不同数据集回答不同问题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数据集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Full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Main-only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Occlusion-50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Houston2013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86.90±1.65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80.04±1.93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85.57±1.64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Trento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98.94±0.94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92.89±3.15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98.16±1.87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79.90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MUUFL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86.87±1.79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83.03±2.14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85.99±2.08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79.97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886200"/>
            <a:ext cx="82296" cy="9144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050791"/>
            <a:ext cx="2596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Houston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471416"/>
            <a:ext cx="259689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5C6776"/>
                </a:solidFill>
                <a:latin typeface="Microsoft YaHei"/>
              </a:rPr>
              <a:t>主消融证据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3886200"/>
            <a:ext cx="82296" cy="9144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4050791"/>
            <a:ext cx="2596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Trento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4471416"/>
            <a:ext cx="259689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5C6776"/>
                </a:solidFill>
                <a:latin typeface="Microsoft YaHei"/>
              </a:rPr>
              <a:t>效率保持证据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886200"/>
            <a:ext cx="82296" cy="9144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4050791"/>
            <a:ext cx="2596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MUUFL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4471416"/>
            <a:ext cx="259689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5C6776"/>
                </a:solidFill>
                <a:latin typeface="Microsoft YaHei"/>
              </a:rPr>
              <a:t>困难 trade-off 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不要把三数据集写成简单排行榜，而要写成角色分工证据。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16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消融、trade-off 与局限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34440"/>
          <a:ext cx="10241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w/o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去掉可用性掩码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HSI-only 下降 3.32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Noise quality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只监督噪声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遮挡改善不足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Multi-deg 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轻量多退化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adverse average 最优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342900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42900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已支撑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014215"/>
            <a:ext cx="282549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预算对齐、真实导出、退化鲁棒性。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42900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42900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需谨慎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4014215"/>
            <a:ext cx="282549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MUUFL 存在 clean-robustness trade-off。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42900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3429000"/>
            <a:ext cx="82296" cy="11430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014215"/>
            <a:ext cx="282549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更大 backbone、更多模态组合、更密集退化曲线。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本文主张是联合权衡，不是所有场景 full OA 都单调提升。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800" b="1">
                <a:solidFill>
                  <a:srgbClr val="1CA6B7"/>
                </a:solidFill>
                <a:latin typeface="Microsoft YaHei"/>
              </a:rPr>
              <a:t>一句话结论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24128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BRM-Net 面向资源受限场景，学习可真实导出的紧凑多模态分类器，并显式评估缺失与退化模态。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429000"/>
            <a:ext cx="315468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3429000"/>
            <a:ext cx="82296" cy="11430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贡献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050791"/>
            <a:ext cx="282549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融合兼容预算化紧凑导出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429000"/>
            <a:ext cx="315468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42900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贡献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4050791"/>
            <a:ext cx="282549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退化监督可靠性融合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429000"/>
            <a:ext cx="315468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342900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贡献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4050791"/>
            <a:ext cx="282549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精度-效率-鲁棒性联合评估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15000"/>
            <a:ext cx="22860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400" b="1">
                <a:solidFill>
                  <a:srgbClr val="1CA6B7"/>
                </a:solidFill>
                <a:latin typeface="Microsoft YaHei"/>
              </a:rPr>
              <a:t>Q&amp;A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备份 1：retained width 结构诊断</a:t>
            </a:r>
          </a:p>
        </p:txBody>
      </p:sp>
      <p:pic>
        <p:nvPicPr>
          <p:cNvPr id="5" name="Picture 4" descr="fig_gate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136" y="1097280"/>
            <a:ext cx="5087488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保留宽度用于解释 learned nonuniform export 的层级分配。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 | 备份页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备份 2：退化可靠性诊断曲线</a:t>
            </a:r>
          </a:p>
        </p:txBody>
      </p:sp>
      <p:pic>
        <p:nvPicPr>
          <p:cNvPr id="5" name="Picture 4" descr="fig_controlled_corruption_relia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211" y="1005840"/>
            <a:ext cx="5744777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可靠性曲线是机制诊断，不是物理质量校准声明。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 | 备份页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备份 3：MUUFL 错误分析</a:t>
            </a:r>
          </a:p>
        </p:txBody>
      </p:sp>
      <p:pic>
        <p:nvPicPr>
          <p:cNvPr id="5" name="Picture 4" descr="fig_muufl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09" y="1097280"/>
            <a:ext cx="6927942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MUUFL 用于说明鲁棒训练可能带来类别相关的 clean-robustness trade-off。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 | 备份页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417320"/>
            <a:ext cx="3154680" cy="132588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" cy="132588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8191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动态路由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039112"/>
            <a:ext cx="282549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面向不同预算和模态状态选择 profile。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154680" cy="132588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417320"/>
            <a:ext cx="82296" cy="13258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58191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加权交叉熵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039112"/>
            <a:ext cx="282549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处理 MUUFL 等类别不均衡问题。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154680" cy="132588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417320"/>
            <a:ext cx="82296" cy="132588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58191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演示系统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2"/>
            <a:ext cx="282549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700" b="0">
                <a:solidFill>
                  <a:srgbClr val="EBF2F7"/>
                </a:solidFill>
                <a:latin typeface="Microsoft YaHei"/>
              </a:rPr>
              <a:t>交互选择数据集、预算和模态状态。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0584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这些内容不进入投稿主线，作为毕业论文工作量和答辩演示补充。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