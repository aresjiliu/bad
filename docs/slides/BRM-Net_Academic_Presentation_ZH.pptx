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MAC 预算对齐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目标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65</c:v>
                </c:pt>
                <c:pt idx="1">
                  <c:v>80</c:v>
                </c:pt>
                <c:pt idx="2">
                  <c:v>90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80</c:v>
                </c:pt>
                <c:pt idx="2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实际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65</c:v>
                </c:pt>
                <c:pt idx="1">
                  <c:v>80</c:v>
                </c:pt>
                <c:pt idx="2">
                  <c:v>90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64.96</c:v>
                </c:pt>
                <c:pt idx="1">
                  <c:v>80.01</c:v>
                </c:pt>
                <c:pt idx="2">
                  <c:v>90.07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预算与精度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实际 MAC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65</c:v>
                </c:pt>
                <c:pt idx="1">
                  <c:v>80</c:v>
                </c:pt>
                <c:pt idx="2">
                  <c:v>90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64.96</c:v>
                </c:pt>
                <c:pt idx="1">
                  <c:v>80.01</c:v>
                </c:pt>
                <c:pt idx="2">
                  <c:v>90.07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Compact OA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65</c:v>
                </c:pt>
                <c:pt idx="1">
                  <c:v>80</c:v>
                </c:pt>
                <c:pt idx="2">
                  <c:v>90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85.53</c:v>
                </c:pt>
                <c:pt idx="1">
                  <c:v>85.84</c:v>
                </c:pt>
                <c:pt idx="2">
                  <c:v>85.74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Modality dropout 效果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无 dropout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Full</c:v>
                </c:pt>
                <c:pt idx="1">
                  <c:v>HSI only</c:v>
                </c:pt>
                <c:pt idx="2">
                  <c:v>LiDAR only</c:v>
                </c:pt>
                <c:pt idx="3">
                  <c:v>Noise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86.74</c:v>
                </c:pt>
                <c:pt idx="1">
                  <c:v>63.34</c:v>
                </c:pt>
                <c:pt idx="2">
                  <c:v>32.27</c:v>
                </c:pt>
                <c:pt idx="3">
                  <c:v>86.13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dropout 0.25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Full</c:v>
                </c:pt>
                <c:pt idx="1">
                  <c:v>HSI only</c:v>
                </c:pt>
                <c:pt idx="2">
                  <c:v>LiDAR only</c:v>
                </c:pt>
                <c:pt idx="3">
                  <c:v>Noise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87.01</c:v>
                </c:pt>
                <c:pt idx="1">
                  <c:v>75.84</c:v>
                </c:pt>
                <c:pt idx="2">
                  <c:v>42.95</c:v>
                </c:pt>
                <c:pt idx="3">
                  <c:v>84.09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Clean 与 adverse 状态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Adverse Avg.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Uniform</c:v>
                </c:pt>
                <c:pt idx="2">
                  <c:v>Noise</c:v>
                </c:pt>
                <c:pt idx="3">
                  <c:v>Multi .50</c:v>
                </c:pt>
                <c:pt idx="4">
                  <c:v>Multi .25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74.89</c:v>
                </c:pt>
                <c:pt idx="1">
                  <c:v>76.41</c:v>
                </c:pt>
                <c:pt idx="2">
                  <c:v>79.54</c:v>
                </c:pt>
                <c:pt idx="3">
                  <c:v>84.72</c:v>
                </c:pt>
                <c:pt idx="4">
                  <c:v>84.76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Full OA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Baseline</c:v>
                </c:pt>
                <c:pt idx="1">
                  <c:v>Uniform</c:v>
                </c:pt>
                <c:pt idx="2">
                  <c:v>Noise</c:v>
                </c:pt>
                <c:pt idx="3">
                  <c:v>Multi .50</c:v>
                </c:pt>
                <c:pt idx="4">
                  <c:v>Multi .25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86.97</c:v>
                </c:pt>
                <c:pt idx="1">
                  <c:v>86.72</c:v>
                </c:pt>
                <c:pt idx="2">
                  <c:v>87.45</c:v>
                </c:pt>
                <c:pt idx="3">
                  <c:v>85.99</c:v>
                </c:pt>
                <c:pt idx="4">
                  <c:v>86.9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跨数据集角色证据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Full OA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Houston</c:v>
                </c:pt>
                <c:pt idx="1">
                  <c:v>Trento</c:v>
                </c:pt>
                <c:pt idx="2">
                  <c:v>MUUFL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86.9</c:v>
                </c:pt>
                <c:pt idx="1">
                  <c:v>98.94</c:v>
                </c:pt>
                <c:pt idx="2">
                  <c:v>86.87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Main-only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Houston</c:v>
                </c:pt>
                <c:pt idx="1">
                  <c:v>Trento</c:v>
                </c:pt>
                <c:pt idx="2">
                  <c:v>MUUFL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80.04</c:v>
                </c:pt>
                <c:pt idx="1">
                  <c:v>92.89</c:v>
                </c:pt>
                <c:pt idx="2">
                  <c:v>83.03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Occlusion-50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Houston</c:v>
                </c:pt>
                <c:pt idx="1">
                  <c:v>Trento</c:v>
                </c:pt>
                <c:pt idx="2">
                  <c:v>MUUFL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85.57</c:v>
                </c:pt>
                <c:pt idx="1">
                  <c:v>98.16</c:v>
                </c:pt>
                <c:pt idx="2">
                  <c:v>85.99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384048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100" b="1">
                <a:solidFill>
                  <a:srgbClr val="1DA5B4"/>
                </a:solidFill>
                <a:latin typeface="Microsoft YaHei"/>
              </a:rPr>
              <a:t>BRM-Net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607040" cy="11430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面向多模态遥感分类的
融合兼容预算化紧凑导出与退化监督可靠性学习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2670048"/>
            <a:ext cx="77724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0">
                <a:solidFill>
                  <a:srgbClr val="EEF4F8"/>
                </a:solidFill>
                <a:latin typeface="Microsoft YaHei"/>
              </a:rPr>
              <a:t>毕业预答辩 / 学术组会 / 投稿汇报中文版本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3749039"/>
            <a:ext cx="3108960" cy="1097280"/>
          </a:xfrm>
          <a:prstGeom prst="roundRect">
            <a:avLst/>
          </a:prstGeom>
          <a:solidFill>
            <a:srgbClr val="1C3452"/>
          </a:solidFill>
          <a:ln>
            <a:solidFill>
              <a:srgbClr val="8AA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3749039"/>
            <a:ext cx="73152" cy="109728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913631"/>
            <a:ext cx="2788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核心问题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279392"/>
            <a:ext cx="2788920" cy="49377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EF4F8"/>
                </a:solidFill>
                <a:latin typeface="Aptos"/>
              </a:rPr>
              <a:t>多模态模型能否既真实变小，又能应对模态缺失与退化？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3749039"/>
            <a:ext cx="3108960" cy="1097280"/>
          </a:xfrm>
          <a:prstGeom prst="roundRect">
            <a:avLst/>
          </a:prstGeom>
          <a:solidFill>
            <a:srgbClr val="1C3452"/>
          </a:solidFill>
          <a:ln>
            <a:solidFill>
              <a:srgbClr val="8AA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3749039"/>
            <a:ext cx="73152" cy="109728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3913631"/>
            <a:ext cx="2788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主要证据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279392"/>
            <a:ext cx="2788920" cy="49377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EF4F8"/>
                </a:solidFill>
                <a:latin typeface="Aptos"/>
              </a:rPr>
              <a:t>目标 MAC 对齐、真实 compact export、多状态鲁棒性评估。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99248" y="3749039"/>
            <a:ext cx="3108960" cy="1097280"/>
          </a:xfrm>
          <a:prstGeom prst="roundRect">
            <a:avLst/>
          </a:prstGeom>
          <a:solidFill>
            <a:srgbClr val="1C3452"/>
          </a:solidFill>
          <a:ln>
            <a:solidFill>
              <a:srgbClr val="8AA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99248" y="3749039"/>
            <a:ext cx="73152" cy="1097280"/>
          </a:xfrm>
          <a:prstGeom prst="rect">
            <a:avLst/>
          </a:prstGeom>
          <a:solidFill>
            <a:srgbClr val="3C9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7" y="3913631"/>
            <a:ext cx="2788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汇报边界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7" y="4279392"/>
            <a:ext cx="2788920" cy="49377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EF4F8"/>
                </a:solidFill>
                <a:latin typeface="Aptos"/>
              </a:rPr>
              <a:t>聚焦投稿主线，毕业论文扩展放在未来工作。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053328"/>
            <a:ext cx="6583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EF4F8"/>
                </a:solidFill>
                <a:latin typeface="Microsoft YaHei"/>
              </a:rPr>
              <a:t>BRM-Net | Fusion-Compatible Budgeted Compact Export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Microsoft YaHei"/>
              </a:rPr>
              <a:t>动机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42416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E"/>
                </a:solidFill>
                <a:latin typeface="Microsoft YaHei"/>
              </a:rPr>
              <a:t>研究动机：为什么需要轻量化多模态遥感分类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92024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1DA5B4"/>
                </a:solidFill>
                <a:latin typeface="Aptos"/>
              </a:rPr>
              <a:t>2+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19202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7080"/>
                </a:solidFill>
                <a:latin typeface="Aptos"/>
              </a:rPr>
              <a:t>多传感器分支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417320"/>
            <a:ext cx="192024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E77E34"/>
                </a:solidFill>
                <a:latin typeface="Aptos"/>
              </a:rPr>
              <a:t>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920240"/>
            <a:ext cx="19202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7080"/>
                </a:solidFill>
                <a:latin typeface="Aptos"/>
              </a:rPr>
              <a:t>典型目标 MAC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1417320"/>
            <a:ext cx="192024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3C9C77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1920240"/>
            <a:ext cx="19202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7080"/>
                </a:solidFill>
                <a:latin typeface="Aptos"/>
              </a:rPr>
              <a:t>数据集证据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078992"/>
            <a:ext cx="29260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83879" y="1078992"/>
            <a:ext cx="73152" cy="214884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1243584"/>
            <a:ext cx="26060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部署压力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1609343"/>
            <a:ext cx="2606040" cy="15453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边缘端、星载端和资源受限平台需要更低计算、更低参数和更稳定的推理行为。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03320"/>
            <a:ext cx="9966960" cy="150876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41A21"/>
                </a:solidFill>
                <a:latin typeface="Aptos"/>
              </a:defRPr>
            </a:pPr>
            <a:r>
              <a:t>HSI 提供丰富光谱信息，但维度高、计算成本大。</a:t>
            </a:r>
          </a:p>
          <a:p>
            <a:pPr>
              <a:spcAft>
                <a:spcPts val="700"/>
              </a:spcAft>
              <a:defRPr sz="1600">
                <a:solidFill>
                  <a:srgbClr val="141A21"/>
                </a:solidFill>
                <a:latin typeface="Aptos"/>
              </a:defRPr>
            </a:pPr>
            <a:r>
              <a:t>LiDAR 等辅助模态提供几何或空间信息，能提升识别。</a:t>
            </a:r>
          </a:p>
          <a:p>
            <a:pPr>
              <a:spcAft>
                <a:spcPts val="700"/>
              </a:spcAft>
              <a:defRPr sz="1600">
                <a:solidFill>
                  <a:srgbClr val="141A21"/>
                </a:solidFill>
                <a:latin typeface="Aptos"/>
              </a:defRPr>
            </a:pPr>
            <a:r>
              <a:t>多分支融合提高精度，但也放大计算开销和故障模式。</a:t>
            </a:r>
          </a:p>
          <a:p>
            <a:pPr>
              <a:spcAft>
                <a:spcPts val="700"/>
              </a:spcAft>
              <a:defRPr sz="1600">
                <a:solidFill>
                  <a:srgbClr val="141A21"/>
                </a:solidFill>
                <a:latin typeface="Aptos"/>
              </a:defRPr>
            </a:pPr>
            <a:r>
              <a:t>最终模型必须报告真实 MAC/参数下降，而不是只看训练时软门控。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Microsoft YaHei"/>
              </a:rPr>
              <a:t>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42416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E"/>
                </a:solidFill>
                <a:latin typeface="Microsoft YaHei"/>
              </a:rPr>
              <a:t>问题定义：资源预算、模态缺失与模态退化耦合存在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017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" cy="182880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99032"/>
            <a:ext cx="2697479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资源预算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64792"/>
            <a:ext cx="2697479" cy="122529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导出的最终网络需要满足给定资源比例 rho，并以实际 MAC/参数验证。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1234440"/>
            <a:ext cx="3017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7639" y="1234440"/>
            <a:ext cx="73152" cy="1828800"/>
          </a:xfrm>
          <a:prstGeom prst="rect">
            <a:avLst/>
          </a:prstGeom>
          <a:solidFill>
            <a:srgbClr val="BC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1399032"/>
            <a:ext cx="2697479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模态缺失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764792"/>
            <a:ext cx="2697479" cy="122529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某个模态可能物理不可用，需要从融合 softmax 竞争中排除。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1234440"/>
            <a:ext cx="3017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23760" y="1234440"/>
            <a:ext cx="73152" cy="182880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399032"/>
            <a:ext cx="2697479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模态退化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764792"/>
            <a:ext cx="2697479" cy="122529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模态仍然存在，但可能受到噪声、低分辨率或遮挡影响。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862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2233E"/>
                </a:solidFill>
                <a:latin typeface="Microsoft YaHei"/>
              </a:rPr>
              <a:t>期望模型行为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15968"/>
            <a:ext cx="9601200" cy="132588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41A21"/>
                </a:solidFill>
                <a:latin typeface="Aptos"/>
              </a:defRPr>
            </a:pPr>
            <a:r>
              <a:t>完整模态精度不能明显崩塌。</a:t>
            </a:r>
          </a:p>
          <a:p>
            <a:pPr>
              <a:spcAft>
                <a:spcPts val="700"/>
              </a:spcAft>
              <a:defRPr sz="1600">
                <a:solidFill>
                  <a:srgbClr val="141A21"/>
                </a:solidFill>
                <a:latin typeface="Aptos"/>
              </a:defRPr>
            </a:pPr>
            <a:r>
              <a:t>导出后模型确实具有更少通道和更低计算量。</a:t>
            </a:r>
          </a:p>
          <a:p>
            <a:pPr>
              <a:spcAft>
                <a:spcPts val="700"/>
              </a:spcAft>
              <a:defRPr sz="1600">
                <a:solidFill>
                  <a:srgbClr val="141A21"/>
                </a:solidFill>
                <a:latin typeface="Aptos"/>
              </a:defRPr>
            </a:pPr>
            <a:r>
              <a:t>能覆盖 full、main-only、aux-only、corrupted auxiliary 等推理状态。</a:t>
            </a:r>
          </a:p>
          <a:p>
            <a:pPr>
              <a:spcAft>
                <a:spcPts val="700"/>
              </a:spcAft>
              <a:defRPr sz="1600">
                <a:solidFill>
                  <a:srgbClr val="141A21"/>
                </a:solidFill>
                <a:latin typeface="Aptos"/>
              </a:defRPr>
            </a:pPr>
            <a:r>
              <a:t>可靠性分数只作为退化监督诊断信号，不宣称物理校准。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Microsoft YaHei"/>
              </a:rPr>
              <a:t>差距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42416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E"/>
                </a:solidFill>
                <a:latin typeface="Microsoft YaHei"/>
              </a:rPr>
              <a:t>现有工作的关键空缺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32588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方法类别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预算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真实导出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缺失模态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退化模态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融合接口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结构剪枝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多为单主干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弹性网络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有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部分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无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无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宽度自适应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多模态遥感融合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有限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有限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精度优先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缺失模态学习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有限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无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有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部分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常依赖重模块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BRM-Net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显式保持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4160520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160520"/>
            <a:ext cx="73152" cy="105156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325112"/>
            <a:ext cx="28803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差距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690872"/>
            <a:ext cx="2880360" cy="4480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普通剪枝很少考虑多模态融合接口约束。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160520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4160520"/>
            <a:ext cx="73152" cy="105156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4325112"/>
            <a:ext cx="28803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差距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690872"/>
            <a:ext cx="2880360" cy="4480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缺失模态方法常依赖重建或专家系统，与轻量化目标冲突。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160520"/>
            <a:ext cx="3200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4160520"/>
            <a:ext cx="73152" cy="1051560"/>
          </a:xfrm>
          <a:prstGeom prst="rect">
            <a:avLst/>
          </a:prstGeom>
          <a:solidFill>
            <a:srgbClr val="BC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325112"/>
            <a:ext cx="28803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差距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690872"/>
            <a:ext cx="2880360" cy="4480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退化但仍可用的辅助模态没有被充分测试。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Microsoft YaHei"/>
              </a:rPr>
              <a:t>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42416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E"/>
                </a:solidFill>
                <a:latin typeface="Microsoft YaHei"/>
              </a:rPr>
              <a:t>BRM-Net 总体框架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828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73152" cy="150876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993392"/>
            <a:ext cx="15087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59152"/>
            <a:ext cx="1508760" cy="9052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HSI/main
辅助模态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2587752"/>
            <a:ext cx="411480" cy="0"/>
          </a:xfrm>
          <a:prstGeom prst="line">
            <a:avLst/>
          </a:prstGeom>
          <a:ln w="25400">
            <a:solidFill>
              <a:srgbClr val="1DA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1828800"/>
            <a:ext cx="1828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80" y="1828800"/>
            <a:ext cx="73152" cy="150876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993392"/>
            <a:ext cx="15087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门控编码器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359152"/>
            <a:ext cx="1508760" cy="9052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Hard-concrete
通道门控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0" y="2587752"/>
            <a:ext cx="411480" cy="0"/>
          </a:xfrm>
          <a:prstGeom prst="line">
            <a:avLst/>
          </a:prstGeom>
          <a:ln w="25400">
            <a:solidFill>
              <a:srgbClr val="1DA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12080" y="1828800"/>
            <a:ext cx="1828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12080" y="1828800"/>
            <a:ext cx="73152" cy="150876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1993392"/>
            <a:ext cx="15087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可靠性分支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359152"/>
            <a:ext cx="1508760" cy="9052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质量分数
q_m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40880" y="2587752"/>
            <a:ext cx="411480" cy="0"/>
          </a:xfrm>
          <a:prstGeom prst="line">
            <a:avLst/>
          </a:prstGeom>
          <a:ln w="25400">
            <a:solidFill>
              <a:srgbClr val="1DA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79" y="1828800"/>
            <a:ext cx="1828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1828800"/>
            <a:ext cx="73152" cy="1508760"/>
          </a:xfrm>
          <a:prstGeom prst="rect">
            <a:avLst/>
          </a:prstGeom>
          <a:solidFill>
            <a:srgbClr val="3C9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59" y="1993392"/>
            <a:ext cx="15087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掩码融合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59" y="2359152"/>
            <a:ext cx="1508760" cy="9052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可用性约束
softmax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26880" y="2587752"/>
            <a:ext cx="411479" cy="0"/>
          </a:xfrm>
          <a:prstGeom prst="line">
            <a:avLst/>
          </a:prstGeom>
          <a:ln w="25400">
            <a:solidFill>
              <a:srgbClr val="1DA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784080" y="1828800"/>
            <a:ext cx="1828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1828800"/>
            <a:ext cx="73152" cy="1508760"/>
          </a:xfrm>
          <a:prstGeom prst="rect">
            <a:avLst/>
          </a:prstGeom>
          <a:solidFill>
            <a:srgbClr val="1C3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59" y="1993392"/>
            <a:ext cx="15087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紧凑导出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59" y="2359152"/>
            <a:ext cx="1508760" cy="9052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物理删除
冗余通道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977639"/>
            <a:ext cx="11887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D7689"/>
                </a:solidFill>
                <a:latin typeface="Microsoft YaHei"/>
              </a:rPr>
              <a:t>训练阶段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240280" y="4096512"/>
            <a:ext cx="2468880" cy="0"/>
          </a:xfrm>
          <a:prstGeom prst="line">
            <a:avLst/>
          </a:prstGeom>
          <a:ln w="25400">
            <a:solidFill>
              <a:srgbClr val="1DA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800600" y="3977639"/>
            <a:ext cx="18288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77E34"/>
                </a:solidFill>
                <a:latin typeface="Microsoft YaHei"/>
              </a:rPr>
              <a:t>紧凑导出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0800" y="4096512"/>
            <a:ext cx="2057400" cy="0"/>
          </a:xfrm>
          <a:prstGeom prst="line">
            <a:avLst/>
          </a:prstGeom>
          <a:ln w="25400">
            <a:solidFill>
              <a:srgbClr val="E77E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549640" y="3977639"/>
            <a:ext cx="13716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3C9C77"/>
                </a:solidFill>
                <a:latin typeface="Microsoft YaHei"/>
              </a:rPr>
              <a:t>部署推理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212080"/>
            <a:ext cx="98755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2233E"/>
                </a:solidFill>
                <a:latin typeface="Microsoft YaHei"/>
              </a:rPr>
              <a:t>核心原则：压缩内部通道，但保持融合层所需的终端特征接口。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Microsoft YaHei"/>
              </a:rPr>
              <a:t>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42416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E"/>
                </a:solidFill>
                <a:latin typeface="Microsoft YaHei"/>
              </a:rPr>
              <a:t>问题建模：从训练约束到可部署 compact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61872"/>
            <a:ext cx="3017520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2233E"/>
                </a:solidFill>
                <a:latin typeface="Microsoft YaHei"/>
              </a:rPr>
              <a:t>约束优化目标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737360"/>
            <a:ext cx="43891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737360"/>
            <a:ext cx="73152" cy="155448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901952"/>
            <a:ext cx="40690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部署目标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267712"/>
            <a:ext cx="4069080" cy="95097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min E[L_cls(f_theta(g(x), a), y)]
约束：R(f_theta^c) &lt;= rho R(f_theta)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298448"/>
            <a:ext cx="5212080" cy="214884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41A21"/>
                </a:solidFill>
                <a:latin typeface="Aptos"/>
              </a:rPr>
              <a:t>x^(1), x^(2)：</a:t>
            </a:r>
            <a:r>
              <a:rPr sz="1400">
                <a:solidFill>
                  <a:srgbClr val="141A21"/>
                </a:solidFill>
                <a:latin typeface="Aptos"/>
              </a:rPr>
              <a:t>异构对齐观测，如 HSI-LiDAR。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41A21"/>
                </a:solidFill>
                <a:latin typeface="Aptos"/>
              </a:rPr>
              <a:t>a_m：</a:t>
            </a:r>
            <a:r>
              <a:rPr sz="1400">
                <a:solidFill>
                  <a:srgbClr val="141A21"/>
                </a:solidFill>
                <a:latin typeface="Aptos"/>
              </a:rPr>
              <a:t>可用性标记；缺失模态从融合中屏蔽。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41A21"/>
                </a:solidFill>
                <a:latin typeface="Aptos"/>
              </a:rPr>
              <a:t>g：</a:t>
            </a:r>
            <a:r>
              <a:rPr sz="1400">
                <a:solidFill>
                  <a:srgbClr val="141A21"/>
                </a:solidFill>
                <a:latin typeface="Aptos"/>
              </a:rPr>
              <a:t>退化算子，包括噪声、下采样、遮挡。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141A21"/>
                </a:solidFill>
                <a:latin typeface="Aptos"/>
              </a:rPr>
              <a:t>f_theta^c：</a:t>
            </a:r>
            <a:r>
              <a:rPr sz="1400">
                <a:solidFill>
                  <a:srgbClr val="141A21"/>
                </a:solidFill>
                <a:latin typeface="Aptos"/>
              </a:rPr>
              <a:t>结构投影后的物理紧凑模型。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160520"/>
            <a:ext cx="9966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4160520"/>
            <a:ext cx="73152" cy="114300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325112"/>
            <a:ext cx="9646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谨慎表述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690872"/>
            <a:ext cx="9646920" cy="5394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本文不声称可靠性分数是物理传感器质量的校准值，而是将其作为退化监督下的融合诊断信号。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Microsoft YaHei"/>
              </a:rPr>
              <a:t>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42416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E"/>
                </a:solidFill>
                <a:latin typeface="Microsoft YaHei"/>
              </a:rPr>
              <a:t>预算感知通道门控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3063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73152" cy="192024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99032"/>
            <a:ext cx="27432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门控定义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64792"/>
            <a:ext cx="2743200" cy="13167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每个被门控层具有 z_l in [0,1]^C，对特征通道进行逐通道缩放。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063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73152" cy="192024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399032"/>
            <a:ext cx="27432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训练估计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764792"/>
            <a:ext cx="2743200" cy="13167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Hard-concrete 概率用于估计期望通道使用量和资源消耗。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234440"/>
            <a:ext cx="3063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09560" y="1234440"/>
            <a:ext cx="73152" cy="1920240"/>
          </a:xfrm>
          <a:prstGeom prst="rect">
            <a:avLst/>
          </a:prstGeom>
          <a:solidFill>
            <a:srgbClr val="3C9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399032"/>
            <a:ext cx="27432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导出规则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1764792"/>
            <a:ext cx="2743200" cy="13167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选择阈值并二值化门控，使实际 MAC 接近目标预算。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1097280" y="3749039"/>
          <a:ext cx="475488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400800" y="3794760"/>
            <a:ext cx="4389120" cy="141732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41A21"/>
                </a:solidFill>
                <a:latin typeface="Aptos"/>
              </a:defRPr>
            </a:pPr>
            <a:r>
              <a:t>资源损失约束期望 MAC 与目标预算之间的偏差。</a:t>
            </a:r>
          </a:p>
          <a:p>
            <a:pPr>
              <a:spcAft>
                <a:spcPts val="700"/>
              </a:spcAft>
              <a:defRPr sz="1500">
                <a:solidFill>
                  <a:srgbClr val="141A21"/>
                </a:solidFill>
                <a:latin typeface="Aptos"/>
              </a:defRPr>
            </a:pPr>
            <a:r>
              <a:t>门控只是训练中间机制。</a:t>
            </a:r>
          </a:p>
          <a:p>
            <a:pPr>
              <a:spcAft>
                <a:spcPts val="700"/>
              </a:spcAft>
              <a:defRPr sz="1500">
                <a:solidFill>
                  <a:srgbClr val="141A21"/>
                </a:solidFill>
                <a:latin typeface="Aptos"/>
              </a:defRPr>
            </a:pPr>
            <a:r>
              <a:t>论文最终报告的是导出后的 compact model。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Microsoft YaHei"/>
              </a:rPr>
              <a:t>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42416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E"/>
                </a:solidFill>
                <a:latin typeface="Microsoft YaHei"/>
              </a:rPr>
              <a:t>融合兼容紧凑导出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30175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73152" cy="1508760"/>
          </a:xfrm>
          <a:prstGeom prst="rect">
            <a:avLst/>
          </a:prstGeom>
          <a:solidFill>
            <a:srgbClr val="BC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99032"/>
            <a:ext cx="2697479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为什么需要兼容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64792"/>
            <a:ext cx="2697479" cy="9052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独立剪掉分支通道可能破坏融合头所期望的特征维度。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234440"/>
            <a:ext cx="30175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234440"/>
            <a:ext cx="73152" cy="150876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399032"/>
            <a:ext cx="2697479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结构投影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764792"/>
            <a:ext cx="2697479" cy="9052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删除输出通道、下一层输入切片、BN 参数和相关分类器权重。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234440"/>
            <a:ext cx="30175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43800" y="1234440"/>
            <a:ext cx="73152" cy="1508760"/>
          </a:xfrm>
          <a:prstGeom prst="rect">
            <a:avLst/>
          </a:prstGeom>
          <a:solidFill>
            <a:srgbClr val="3C9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1399032"/>
            <a:ext cx="2697479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终端约束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1764792"/>
            <a:ext cx="2697479" cy="9052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通过保护或绑定终端门控，保持融合使用的表示维度。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14400" y="3657600"/>
          <a:ext cx="996696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392"/>
                <a:gridCol w="1993392"/>
                <a:gridCol w="1993392"/>
                <a:gridCol w="1993392"/>
                <a:gridCol w="1993392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状态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Source OA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Compact OA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变化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MACs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86.15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86.90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+0.75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HSI only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78.18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80.04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+1.86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80.01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Noise-high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84.26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84.55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+0.29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Occlusion-50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84.59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85.57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+0.98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80.01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60120" y="5577840"/>
            <a:ext cx="98755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Microsoft YaHei"/>
              </a:rPr>
              <a:t>Source gated model 与真实导出的 compact model 表现接近，支撑真实导出主张。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Microsoft YaHei"/>
              </a:rPr>
              <a:t>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42416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E"/>
                </a:solidFill>
                <a:latin typeface="Microsoft YaHei"/>
              </a:rPr>
              <a:t>可用性感知可靠性融合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3154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73152" cy="182880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99032"/>
            <a:ext cx="28346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可靠性分数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64792"/>
            <a:ext cx="2834640" cy="122529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每个模态输出 q_m，作为融合权重的质量信号。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234440"/>
            <a:ext cx="3154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234440"/>
            <a:ext cx="73152" cy="182880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399032"/>
            <a:ext cx="28346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可用性掩码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1764792"/>
            <a:ext cx="2834640" cy="122529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不可用模态在 softmax 前被赋予极小 logit。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54696" y="1234440"/>
            <a:ext cx="3154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54696" y="1234440"/>
            <a:ext cx="73152" cy="1828800"/>
          </a:xfrm>
          <a:prstGeom prst="rect">
            <a:avLst/>
          </a:prstGeom>
          <a:solidFill>
            <a:srgbClr val="3C9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37575" y="1399032"/>
            <a:ext cx="28346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融合权重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7575" y="1764792"/>
            <a:ext cx="2834640" cy="122529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alpha_m = softmax(log q_m + mask(a_m))，仅在可用模态间竞争。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097280" y="3794760"/>
          <a:ext cx="932688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331720"/>
                <a:gridCol w="2331720"/>
                <a:gridCol w="2331720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状态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BRM-Net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去掉 mask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变化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86.90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87.02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+0.12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HSI only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80.04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76.72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-3.32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LiDAR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38.04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37.59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-0.45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Occlusion-50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85.57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85.67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+0.10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051560" y="5577840"/>
            <a:ext cx="96926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Microsoft YaHei"/>
              </a:rPr>
              <a:t>结论：mask 主要保护物理缺失模态，而不是所有退化但可用的情况。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Microsoft YaHei"/>
              </a:rPr>
              <a:t>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42416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E"/>
                </a:solidFill>
                <a:latin typeface="Microsoft YaHei"/>
              </a:rPr>
              <a:t>退化监督质量学习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73152" cy="1371600"/>
          </a:xfrm>
          <a:prstGeom prst="rect">
            <a:avLst/>
          </a:prstGeom>
          <a:solidFill>
            <a:srgbClr val="3C9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07592"/>
            <a:ext cx="21031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干净且可用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73352"/>
            <a:ext cx="2103120" cy="7680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质量目标 t_m =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14300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143000"/>
            <a:ext cx="73152" cy="1371600"/>
          </a:xfrm>
          <a:prstGeom prst="rect">
            <a:avLst/>
          </a:prstGeom>
          <a:solidFill>
            <a:srgbClr val="BC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307592"/>
            <a:ext cx="21031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物理缺失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673352"/>
            <a:ext cx="2103120" cy="7680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质量目标 t_m =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14300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143000"/>
            <a:ext cx="73152" cy="137160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307592"/>
            <a:ext cx="21031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噪声 / 遮挡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673352"/>
            <a:ext cx="2103120" cy="7680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中间质量目标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143000"/>
            <a:ext cx="24231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23960" y="1143000"/>
            <a:ext cx="73152" cy="137160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307592"/>
            <a:ext cx="21031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下采样 x4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673352"/>
            <a:ext cx="2103120" cy="7680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更低质量目标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42900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900" b="1">
                <a:solidFill>
                  <a:srgbClr val="12233E"/>
                </a:solidFill>
                <a:latin typeface="Microsoft YaHei"/>
              </a:rPr>
              <a:t>训练损失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3840480"/>
            <a:ext cx="4617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" y="3840480"/>
            <a:ext cx="73152" cy="96012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005072"/>
            <a:ext cx="4297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目标函数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370832"/>
            <a:ext cx="4297680" cy="35661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L = L_cls + lambda_b L_bud + lambda_q L_qual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3520440"/>
            <a:ext cx="4754880" cy="132588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41A21"/>
                </a:solidFill>
                <a:latin typeface="Aptos"/>
              </a:defRPr>
            </a:pPr>
            <a:r>
              <a:t>退化模态仍参与候选融合，而不是直接屏蔽。</a:t>
            </a:r>
          </a:p>
          <a:p>
            <a:pPr>
              <a:spcAft>
                <a:spcPts val="700"/>
              </a:spcAft>
              <a:defRPr sz="1500">
                <a:solidFill>
                  <a:srgbClr val="141A21"/>
                </a:solidFill>
                <a:latin typeface="Aptos"/>
              </a:defRPr>
            </a:pPr>
            <a:r>
              <a:t>可靠性分支需要学会降低受损辅助模态权重。</a:t>
            </a:r>
          </a:p>
          <a:p>
            <a:pPr>
              <a:spcAft>
                <a:spcPts val="700"/>
              </a:spcAft>
              <a:defRPr sz="1500">
                <a:solidFill>
                  <a:srgbClr val="141A21"/>
                </a:solidFill>
                <a:latin typeface="Aptos"/>
              </a:defRPr>
            </a:pPr>
            <a:r>
              <a:t>该分数是退化感知诊断信号，不是物理校准量。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Microsoft YaHei"/>
              </a:rPr>
              <a:t>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42416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E"/>
                </a:solidFill>
                <a:latin typeface="Microsoft YaHei"/>
              </a:rPr>
              <a:t>训练与导出流程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901952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96596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73351"/>
            <a:ext cx="1581912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1. 源模型训练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39112"/>
            <a:ext cx="1581912" cy="13624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模态 dropout + 退化采样 + 预算损失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87752" y="2487168"/>
            <a:ext cx="310896" cy="0"/>
          </a:xfrm>
          <a:prstGeom prst="line">
            <a:avLst/>
          </a:prstGeom>
          <a:ln w="25400">
            <a:solidFill>
              <a:srgbClr val="1DA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53512" y="1508760"/>
            <a:ext cx="1901952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53512" y="1508760"/>
            <a:ext cx="73152" cy="196596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6392" y="1673351"/>
            <a:ext cx="1581912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2. 门控投影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2039112"/>
            <a:ext cx="1581912" cy="13624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选择阈值 eta 匹配目标 MAC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55464" y="2487168"/>
            <a:ext cx="310896" cy="0"/>
          </a:xfrm>
          <a:prstGeom prst="line">
            <a:avLst/>
          </a:prstGeom>
          <a:ln w="25400">
            <a:solidFill>
              <a:srgbClr val="1DA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21224" y="1508760"/>
            <a:ext cx="1901952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21224" y="1508760"/>
            <a:ext cx="73152" cy="1965960"/>
          </a:xfrm>
          <a:prstGeom prst="rect">
            <a:avLst/>
          </a:prstGeom>
          <a:solidFill>
            <a:srgbClr val="3C9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4104" y="1673351"/>
            <a:ext cx="1581912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3. 紧凑导出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4104" y="2039112"/>
            <a:ext cx="1581912" cy="13624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删除通道和依赖参数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23176" y="2487168"/>
            <a:ext cx="310895" cy="0"/>
          </a:xfrm>
          <a:prstGeom prst="line">
            <a:avLst/>
          </a:prstGeom>
          <a:ln w="25400">
            <a:solidFill>
              <a:srgbClr val="1DA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88936" y="1508760"/>
            <a:ext cx="1901952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88936" y="1508760"/>
            <a:ext cx="73152" cy="1965960"/>
          </a:xfrm>
          <a:prstGeom prst="rect">
            <a:avLst/>
          </a:prstGeom>
          <a:solidFill>
            <a:srgbClr val="1C3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71815" y="1673351"/>
            <a:ext cx="1581912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4. 短程微调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1815" y="2039112"/>
            <a:ext cx="1581912" cy="13624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恢复 compact 架构精度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90888" y="2487168"/>
            <a:ext cx="310896" cy="0"/>
          </a:xfrm>
          <a:prstGeom prst="line">
            <a:avLst/>
          </a:prstGeom>
          <a:ln w="25400">
            <a:solidFill>
              <a:srgbClr val="1DA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756648" y="1508760"/>
            <a:ext cx="1901952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56648" y="1508760"/>
            <a:ext cx="73152" cy="1965960"/>
          </a:xfrm>
          <a:prstGeom prst="rect">
            <a:avLst/>
          </a:prstGeom>
          <a:solidFill>
            <a:srgbClr val="0D76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9528" y="1673351"/>
            <a:ext cx="1581912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5. 多状态评估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39528" y="2039112"/>
            <a:ext cx="1581912" cy="13624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Full、缺失、退化、MAC、参数、延迟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" y="4434840"/>
            <a:ext cx="99669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51560" y="4434840"/>
            <a:ext cx="73152" cy="100584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439" y="4599431"/>
            <a:ext cx="9646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算法重点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39" y="4965192"/>
            <a:ext cx="9646920" cy="4023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导出阶段不可省略：部署模型具有物理更少通道，而不是仍保留原网络并加软门控。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Microsoft YaHei"/>
              </a:rPr>
              <a:t>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42416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E"/>
                </a:solidFill>
                <a:latin typeface="Microsoft YaHei"/>
              </a:rPr>
              <a:t>实验协议与数据集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28016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数据集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角色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训练 / 测试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纳入原因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Houston2013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主实验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2,832 / 12,197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官方划分，消融最完整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Trento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外部验证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819 / 29,395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精度接近饱和的 HSI-LiDAR 场景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MUUFL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压力测试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1,550 / 52,137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类别不均衡，辅助模态较弱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384048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840480"/>
            <a:ext cx="73152" cy="123444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005072"/>
            <a:ext cx="27432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指标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370832"/>
            <a:ext cx="2743200" cy="6309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OA、AA、Kappa、MAC ratio、参数 ratio、必要时报告 latency。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384048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3840480"/>
            <a:ext cx="73152" cy="123444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4005072"/>
            <a:ext cx="27432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状态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4370832"/>
            <a:ext cx="2743200" cy="6309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Full、main-only、aux-only、noise、downsample、occlusion。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84048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3840480"/>
            <a:ext cx="73152" cy="1234440"/>
          </a:xfrm>
          <a:prstGeom prst="rect">
            <a:avLst/>
          </a:prstGeom>
          <a:solidFill>
            <a:srgbClr val="3C9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4005072"/>
            <a:ext cx="27432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汇报原则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370832"/>
            <a:ext cx="2743200" cy="6309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三数据集承担不同角色，不写成单一排行榜。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Microsoft YaHei"/>
              </a:rPr>
              <a:t>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42416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E"/>
                </a:solidFill>
                <a:latin typeface="Microsoft YaHei"/>
              </a:rPr>
              <a:t>预算对齐结果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0"/>
            <a:ext cx="182880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1DA5B4"/>
                </a:solidFill>
                <a:latin typeface="Aptos"/>
              </a:rPr>
              <a:t>64.96%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7080"/>
                </a:solidFill>
                <a:latin typeface="Aptos"/>
              </a:rPr>
              <a:t>65 目标下实际 MAC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80160"/>
            <a:ext cx="182880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E77E34"/>
                </a:solidFill>
                <a:latin typeface="Aptos"/>
              </a:rPr>
              <a:t>80.01%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78308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7080"/>
                </a:solidFill>
                <a:latin typeface="Aptos"/>
              </a:rPr>
              <a:t>80 目标下实际 MAC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280160"/>
            <a:ext cx="182880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3C9C77"/>
                </a:solidFill>
                <a:latin typeface="Aptos"/>
              </a:rPr>
              <a:t>90.07%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7080"/>
                </a:solidFill>
                <a:latin typeface="Aptos"/>
              </a:rPr>
              <a:t>90 目标下实际 MAC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1051560" y="3200400"/>
          <a:ext cx="5212080" cy="2240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629400" y="3246120"/>
          <a:ext cx="41605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2104"/>
                <a:gridCol w="832104"/>
                <a:gridCol w="832104"/>
                <a:gridCol w="832104"/>
                <a:gridCol w="832104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目标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Source OA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Compact OA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Params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MACs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85.98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85.53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64.79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64.96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85.79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85.84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79.92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80.01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85.33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85.74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89.78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90.07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14400" y="5742432"/>
            <a:ext cx="98755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12233E"/>
                </a:solidFill>
                <a:latin typeface="Microsoft YaHei"/>
              </a:rPr>
              <a:t>主张：目标资源预算可以被物理导出为实际 compact network。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Microsoft YaHei"/>
              </a:rPr>
              <a:t>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42416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E"/>
                </a:solidFill>
                <a:latin typeface="Microsoft YaHei"/>
              </a:rPr>
              <a:t>精度-效率权衡</a:t>
            </a:r>
          </a:p>
        </p:txBody>
      </p:sp>
      <p:pic>
        <p:nvPicPr>
          <p:cNvPr id="5" name="Picture 4" descr="fig_pareto_accuracy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43000"/>
            <a:ext cx="4800600" cy="3897492"/>
          </a:xfrm>
          <a:prstGeom prst="rect">
            <a:avLst/>
          </a:prstGeom>
        </p:spPr>
      </p:pic>
      <p:pic>
        <p:nvPicPr>
          <p:cNvPr id="6" name="Picture 5" descr="fig_brmnet_results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143000"/>
            <a:ext cx="5257800" cy="36464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5650992"/>
            <a:ext cx="987552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Microsoft YaHei"/>
              </a:rPr>
              <a:t>左图突出 accuracy-efficiency trade-off，右图汇总缺失模态、保留宽度和预算对齐证据。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Microsoft YaHei"/>
              </a:rPr>
              <a:t>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42416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E"/>
                </a:solidFill>
                <a:latin typeface="Microsoft YaHei"/>
              </a:rPr>
              <a:t>模态缺失鲁棒性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234440"/>
          <a:ext cx="512064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128"/>
                <a:gridCol w="1024128"/>
                <a:gridCol w="1024128"/>
                <a:gridCol w="1024128"/>
                <a:gridCol w="1024128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训练方式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Full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HSI only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LiDAR only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LiDAR noise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无 dropout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86.74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63.34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32.27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86.13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dropout 0.25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87.01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75.84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42.95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84.09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68680" y="2743200"/>
          <a:ext cx="539496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720840" y="1280160"/>
            <a:ext cx="3840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20840" y="1280160"/>
            <a:ext cx="73152" cy="1234440"/>
          </a:xfrm>
          <a:prstGeom prst="rect">
            <a:avLst/>
          </a:prstGeom>
          <a:solidFill>
            <a:srgbClr val="3C9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1444751"/>
            <a:ext cx="35204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观察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810512"/>
            <a:ext cx="3520440" cy="6309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训练时模态 dropout 显著提升单模态 fallback 能力。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880360"/>
            <a:ext cx="3840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20840" y="2880360"/>
            <a:ext cx="73152" cy="123444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3044952"/>
            <a:ext cx="35204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410712"/>
            <a:ext cx="3520440" cy="6309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缺失由 availability mask 处理，退化仍需要质量监督。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Microsoft YaHei"/>
              </a:rPr>
              <a:t>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42416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E"/>
                </a:solidFill>
                <a:latin typeface="Microsoft YaHei"/>
              </a:rPr>
              <a:t>模态退化鲁棒性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70432"/>
          <a:ext cx="109728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27660"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方法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Full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Noise-high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Down-4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Occ-50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00">
                          <a:solidFill>
                            <a:srgbClr val="FFFFFF"/>
                          </a:solidFill>
                        </a:rPr>
                        <a:t>Adverse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Full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86.97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72.08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78.37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74.21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74.89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Uniform fusion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86.72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77.01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78.35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73.87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76.41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Noise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87.45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85.15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80.14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73.32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79.54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Multi-deg .50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85.99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85.11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84.38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84.66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84.72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Multi-deg 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86.90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84.55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84.15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85.57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41A21"/>
                          </a:solidFill>
                        </a:rPr>
                        <a:t>84.76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051560" y="3657600"/>
          <a:ext cx="5577840" cy="2148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178040" y="3840480"/>
            <a:ext cx="3566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78040" y="3840480"/>
            <a:ext cx="73152" cy="118872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19" y="4005072"/>
            <a:ext cx="32461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关键结果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19" y="4370832"/>
            <a:ext cx="3246120" cy="58521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80% MAC 设定下，adverse-state average 从 74.89 提升到 84.76。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Microsoft YaHei"/>
              </a:rPr>
              <a:t>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42416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E"/>
                </a:solidFill>
                <a:latin typeface="Microsoft YaHei"/>
              </a:rPr>
              <a:t>多数据集证据：Houston / Trento / MUUFL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188720"/>
          <a:ext cx="107442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  <a:gridCol w="2148840"/>
              </a:tblGrid>
              <a:tr h="37719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数据集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Full OA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Main-only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Occlusion-50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MACs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Houston2013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86.90 ± 1.65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80.04 ± 1.93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85.57 ± 1.64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Trento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98.94 ± 0.94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92.89 ± 3.15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98.16 ± 1.87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79.90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MUUFL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86.87 ± 1.79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83.03 ± 2.14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85.99 ± 2.08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41A21"/>
                          </a:solidFill>
                        </a:rPr>
                        <a:t>79.97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914400" y="3246120"/>
          <a:ext cx="5486400" cy="2423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995160" y="3383280"/>
            <a:ext cx="3566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95160" y="3383280"/>
            <a:ext cx="73152" cy="150876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3547872"/>
            <a:ext cx="32461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解释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3913632"/>
            <a:ext cx="3246120" cy="9052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Houston 支撑主消融；Trento 证明轻量化不破坏近饱和精度；MUUFL 暴露 clean-robustness 权衡。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Microsoft YaHei"/>
              </a:rPr>
              <a:t>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42416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E"/>
                </a:solidFill>
                <a:latin typeface="Microsoft YaHei"/>
              </a:rPr>
              <a:t>消融实验结论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234440"/>
          <a:ext cx="108356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  <a:gridCol w="36118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消融项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改变内容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</a:rPr>
                        <a:t>观察结果</a:t>
                      </a:r>
                    </a:p>
                  </a:txBody>
                  <a:tcPr>
                    <a:solidFill>
                      <a:srgbClr val="1223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Uniform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去掉可靠性加权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退化鲁棒性有限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Noise quality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只监督噪声质量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噪声改善，遮挡仍弱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Multi-deg 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更强退化日程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鲁棒但 full OA 略降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Multi-deg .25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轻量多退化日程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当前 adverse average 最优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w/o mask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去掉可用性掩码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41A21"/>
                          </a:solidFill>
                        </a:rPr>
                        <a:t>HSI-only OA 下降 3.32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4160520"/>
            <a:ext cx="4572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160520"/>
            <a:ext cx="73152" cy="123444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325112"/>
            <a:ext cx="42519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690872"/>
            <a:ext cx="4251960" cy="6309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鲁棒性主要来自退化监督可靠性，而不是单纯加入一个可靠性标量。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4160520"/>
            <a:ext cx="4572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4160520"/>
            <a:ext cx="73152" cy="123444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4325112"/>
            <a:ext cx="42519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投稿边界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690872"/>
            <a:ext cx="4251960" cy="6309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routing、weighted CE、profile label stabilization 放入毕业论文扩展。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Microsoft YaHei"/>
              </a:rPr>
              <a:t>可视化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42416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E"/>
                </a:solidFill>
                <a:latin typeface="Microsoft YaHei"/>
              </a:rPr>
              <a:t>可视化：保留宽度、可靠性诊断与 MUUFL 错误分析</a:t>
            </a:r>
          </a:p>
        </p:txBody>
      </p:sp>
      <p:pic>
        <p:nvPicPr>
          <p:cNvPr id="5" name="Picture 4" descr="fig_gate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3063240" cy="2697801"/>
          </a:xfrm>
          <a:prstGeom prst="rect">
            <a:avLst/>
          </a:prstGeom>
        </p:spPr>
      </p:pic>
      <p:pic>
        <p:nvPicPr>
          <p:cNvPr id="6" name="Picture 5" descr="fig_controlled_corruption_reliability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143000"/>
            <a:ext cx="3977639" cy="3165617"/>
          </a:xfrm>
          <a:prstGeom prst="rect">
            <a:avLst/>
          </a:prstGeom>
        </p:spPr>
      </p:pic>
      <p:pic>
        <p:nvPicPr>
          <p:cNvPr id="7" name="Picture 6" descr="fig_muufl_error_analy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1143000"/>
            <a:ext cx="3154680" cy="19986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5687568"/>
            <a:ext cx="98755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Microsoft YaHei"/>
              </a:rPr>
              <a:t>这些图用于机制诊断：可靠性是 degradation-aware，而不是 physically calibrated。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Microsoft YaHei"/>
              </a:rPr>
              <a:t>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42416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E"/>
                </a:solidFill>
                <a:latin typeface="Microsoft YaHei"/>
              </a:rPr>
              <a:t>讨论：clean-robustness 权衡与局限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3108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73152" cy="1508760"/>
          </a:xfrm>
          <a:prstGeom prst="rect">
            <a:avLst/>
          </a:prstGeom>
          <a:solidFill>
            <a:srgbClr val="3C9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99032"/>
            <a:ext cx="2788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已支撑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64792"/>
            <a:ext cx="2788920" cy="9052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Houston2013 上目标 MAC 对齐和 compact export 证据较完整。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108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34440"/>
            <a:ext cx="73152" cy="150876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399032"/>
            <a:ext cx="2788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需谨慎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64792"/>
            <a:ext cx="2788920" cy="9052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MUUFL 增强鲁棒性，但 clean full OA 牺牲 1.64 pp。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234440"/>
            <a:ext cx="3108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234440"/>
            <a:ext cx="73152" cy="1508760"/>
          </a:xfrm>
          <a:prstGeom prst="rect">
            <a:avLst/>
          </a:prstGeom>
          <a:solidFill>
            <a:srgbClr val="BC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399032"/>
            <a:ext cx="2788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局限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1764792"/>
            <a:ext cx="2788920" cy="90525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当前多数据集仍以 HSI-LiDAR 为主，HS-MS 与 HS-SAR 仍需扩展。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57600"/>
            <a:ext cx="9875520" cy="150876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41A21"/>
                </a:solidFill>
                <a:latin typeface="Aptos"/>
              </a:defRPr>
            </a:pPr>
            <a:r>
              <a:t>单一 full-modality OA 不能充分评价部署导向模型。</a:t>
            </a:r>
          </a:p>
          <a:p>
            <a:pPr>
              <a:spcAft>
                <a:spcPts val="700"/>
              </a:spcAft>
              <a:defRPr sz="1600">
                <a:solidFill>
                  <a:srgbClr val="141A21"/>
                </a:solidFill>
                <a:latin typeface="Aptos"/>
              </a:defRPr>
            </a:pPr>
            <a:r>
              <a:t>可靠性加权必须配合 corrupted-but-available 训练状态才有效。</a:t>
            </a:r>
          </a:p>
          <a:p>
            <a:pPr>
              <a:spcAft>
                <a:spcPts val="700"/>
              </a:spcAft>
              <a:defRPr sz="1600">
                <a:solidFill>
                  <a:srgbClr val="141A21"/>
                </a:solidFill>
                <a:latin typeface="Aptos"/>
              </a:defRPr>
            </a:pPr>
            <a:r>
              <a:t>不能夸大为真实星载部署或物理传感器质量校准。</a:t>
            </a:r>
          </a:p>
          <a:p>
            <a:pPr>
              <a:spcAft>
                <a:spcPts val="700"/>
              </a:spcAft>
              <a:defRPr sz="1600">
                <a:solidFill>
                  <a:srgbClr val="141A21"/>
                </a:solidFill>
                <a:latin typeface="Aptos"/>
              </a:defRPr>
            </a:pPr>
            <a:r>
              <a:t>更大 backbone 和更强 lightweight baseline 会进一步增强说服力。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83464"/>
            <a:ext cx="2011680" cy="21945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D7689"/>
                </a:solidFill>
                <a:latin typeface="Microsoft YaHei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484632"/>
            <a:ext cx="1042416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12233E"/>
                </a:solidFill>
                <a:latin typeface="Microsoft YaHei"/>
              </a:rPr>
              <a:t>贡献总结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182880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1DA5B4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7080"/>
                </a:solidFill>
                <a:latin typeface="Aptos"/>
              </a:rPr>
              <a:t>紧凑导出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325880"/>
            <a:ext cx="182880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E77E34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82880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7080"/>
                </a:solidFill>
                <a:latin typeface="Aptos"/>
              </a:rPr>
              <a:t>可靠融合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1325880"/>
            <a:ext cx="182880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3C9C77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82880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667080"/>
                </a:solidFill>
                <a:latin typeface="Aptos"/>
              </a:rPr>
              <a:t>联合评估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246120"/>
            <a:ext cx="31089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246120"/>
            <a:ext cx="73152" cy="146304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410712"/>
            <a:ext cx="2788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融合兼容预算化紧凑导出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776472"/>
            <a:ext cx="2788920" cy="8595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学习门控并真实导出 compact model，同时保持融合接口。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246120"/>
            <a:ext cx="31089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3246120"/>
            <a:ext cx="73152" cy="146304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410712"/>
            <a:ext cx="2788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退化监督可靠性融合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776472"/>
            <a:ext cx="2788920" cy="8595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为 corrupted-but-available 模态提供质量目标，不依赖重建网络。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3246120"/>
            <a:ext cx="31089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1000" y="3246120"/>
            <a:ext cx="73152" cy="1463040"/>
          </a:xfrm>
          <a:prstGeom prst="rect">
            <a:avLst/>
          </a:prstGeom>
          <a:solidFill>
            <a:srgbClr val="3C9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3410712"/>
            <a:ext cx="27889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2233E"/>
                </a:solidFill>
                <a:latin typeface="Aptos"/>
              </a:rPr>
              <a:t>精度-效率-鲁棒性联合评估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776472"/>
            <a:ext cx="2788920" cy="85953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7080"/>
                </a:solidFill>
                <a:latin typeface="Aptos"/>
              </a:rPr>
              <a:t>报告实际 MAC、缺失状态、退化状态和多数据集证据。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6510528"/>
            <a:ext cx="384048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667080"/>
                </a:solidFill>
                <a:latin typeface="Microsoft YaHei"/>
              </a:rPr>
              <a:t>BRM-Net 中文学术汇报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55664"/>
            <a:ext cx="43891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67080"/>
                </a:solidFill>
                <a:latin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320040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未来工作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508760"/>
            <a:ext cx="3154680" cy="1325880"/>
          </a:xfrm>
          <a:prstGeom prst="roundRect">
            <a:avLst/>
          </a:prstGeom>
          <a:solidFill>
            <a:srgbClr val="1C3452"/>
          </a:solidFill>
          <a:ln>
            <a:solidFill>
              <a:srgbClr val="8AA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508760"/>
            <a:ext cx="73152" cy="1325880"/>
          </a:xfrm>
          <a:prstGeom prst="rect">
            <a:avLst/>
          </a:prstGeom>
          <a:solidFill>
            <a:srgbClr val="1D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73351"/>
            <a:ext cx="28346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毕业论文扩展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39112"/>
            <a:ext cx="2834640" cy="72237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EF4F8"/>
                </a:solidFill>
                <a:latin typeface="Aptos"/>
              </a:rPr>
              <a:t>动态路由、weighted CE、profile label stabilization、类别级诊断。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08760"/>
            <a:ext cx="3154680" cy="1325880"/>
          </a:xfrm>
          <a:prstGeom prst="roundRect">
            <a:avLst/>
          </a:prstGeom>
          <a:solidFill>
            <a:srgbClr val="1C3452"/>
          </a:solidFill>
          <a:ln>
            <a:solidFill>
              <a:srgbClr val="8AA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508760"/>
            <a:ext cx="73152" cy="1325880"/>
          </a:xfrm>
          <a:prstGeom prst="rect">
            <a:avLst/>
          </a:prstGeom>
          <a:solidFill>
            <a:srgbClr val="E7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73351"/>
            <a:ext cx="28346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增强证据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39112"/>
            <a:ext cx="2834640" cy="72237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EF4F8"/>
                </a:solidFill>
                <a:latin typeface="Aptos"/>
              </a:rPr>
              <a:t>更大 backbone、更强轻量化 baseline、更密集退化曲线。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508760"/>
            <a:ext cx="3154680" cy="1325880"/>
          </a:xfrm>
          <a:prstGeom prst="roundRect">
            <a:avLst/>
          </a:prstGeom>
          <a:solidFill>
            <a:srgbClr val="1C3452"/>
          </a:solidFill>
          <a:ln>
            <a:solidFill>
              <a:srgbClr val="8AA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508760"/>
            <a:ext cx="73152" cy="1325880"/>
          </a:xfrm>
          <a:prstGeom prst="rect">
            <a:avLst/>
          </a:prstGeom>
          <a:solidFill>
            <a:srgbClr val="3C9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673351"/>
            <a:ext cx="283464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演示系统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039112"/>
            <a:ext cx="2834640" cy="722375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EEF4F8"/>
                </a:solidFill>
                <a:latin typeface="Aptos"/>
              </a:rPr>
              <a:t>交互式选择数据集、模态状态和预算配置，服务答辩展示。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69080"/>
            <a:ext cx="27432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DA5B4"/>
                </a:solidFill>
                <a:latin typeface="Microsoft YaHei"/>
              </a:rPr>
              <a:t>Q&amp;A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987552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</a:rPr>
              <a:t>一句话总结：BRM-Net 关注资源受限场景下，可真实导出的紧凑多模态遥感分类，并显式评估缺失与退化模态。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70448"/>
            <a:ext cx="98755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EEF4F8"/>
                </a:solidFill>
                <a:latin typeface="Microsoft YaHei"/>
              </a:rPr>
              <a:t>待补充：最终混淆矩阵、最终延迟表、更密集退化曲线。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